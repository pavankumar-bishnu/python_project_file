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  <p:sldMasterId id="2147484083" r:id="rId2"/>
    <p:sldMasterId id="2147484205" r:id="rId3"/>
  </p:sldMasterIdLst>
  <p:notesMasterIdLst>
    <p:notesMasterId r:id="rId16"/>
  </p:notesMasterIdLst>
  <p:sldIdLst>
    <p:sldId id="256" r:id="rId4"/>
    <p:sldId id="257" r:id="rId5"/>
    <p:sldId id="265" r:id="rId6"/>
    <p:sldId id="263" r:id="rId7"/>
    <p:sldId id="273" r:id="rId8"/>
    <p:sldId id="269" r:id="rId9"/>
    <p:sldId id="270" r:id="rId10"/>
    <p:sldId id="274" r:id="rId11"/>
    <p:sldId id="268" r:id="rId12"/>
    <p:sldId id="267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9E83461A-3307-480D-BB1A-ADF0917C90B7}">
          <p14:sldIdLst>
            <p14:sldId id="256"/>
          </p14:sldIdLst>
        </p14:section>
        <p14:section name="Demographics" id="{42F17175-57BA-4A3D-BDD5-1BDD9AA3BBD3}">
          <p14:sldIdLst>
            <p14:sldId id="257"/>
          </p14:sldIdLst>
        </p14:section>
        <p14:section name="Panic Attack Patterns" id="{D4F279D4-6A82-4503-BB7C-B3BB59046711}">
          <p14:sldIdLst>
            <p14:sldId id="265"/>
            <p14:sldId id="263"/>
            <p14:sldId id="273"/>
          </p14:sldIdLst>
        </p14:section>
        <p14:section name="Symptoms Analysis" id="{D4C142C5-0B68-41ED-A120-06F5611DB422}">
          <p14:sldIdLst>
            <p14:sldId id="269"/>
          </p14:sldIdLst>
        </p14:section>
        <p14:section name="Lifestyle Factors" id="{5745B97C-FBC7-41DF-BF8E-E8A3D54FDDED}">
          <p14:sldIdLst>
            <p14:sldId id="270"/>
            <p14:sldId id="274"/>
            <p14:sldId id="268"/>
          </p14:sldIdLst>
        </p14:section>
        <p14:section name="Panic Score Insights" id="{5FB7A1C9-E000-4427-99A5-B1E4C6BFEF6D}">
          <p14:sldIdLst>
            <p14:sldId id="267"/>
          </p14:sldIdLst>
        </p14:section>
        <p14:section name="Conclusions &amp; Recommendations" id="{55A26453-8816-4F90-AB79-7AE228BD606A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60"/>
  </p:normalViewPr>
  <p:slideViewPr>
    <p:cSldViewPr snapToGrid="0">
      <p:cViewPr>
        <p:scale>
          <a:sx n="74" d="100"/>
          <a:sy n="74" d="100"/>
        </p:scale>
        <p:origin x="96" y="-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43926-2787-4686-9665-297C0F58FEF2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B9DE8-88A5-4D39-8D5F-1A967F5EB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5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B9DE8-88A5-4D39-8D5F-1A967F5EB55A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37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ertificate">
    <p:bg>
      <p:bgPr>
        <a:gradFill flip="none" rotWithShape="1">
          <a:gsLst>
            <a:gs pos="100000">
              <a:schemeClr val="accent2"/>
            </a:gs>
            <a:gs pos="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ircle with black background&#10;&#10;Description automatically generated">
            <a:extLst>
              <a:ext uri="{FF2B5EF4-FFF2-40B4-BE49-F238E27FC236}">
                <a16:creationId xmlns:a16="http://schemas.microsoft.com/office/drawing/2014/main" id="{9F3BC9D1-51E2-1573-7CBA-4F926E074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9455" y="0"/>
            <a:ext cx="11453091" cy="6858001"/>
          </a:xfrm>
          <a:custGeom>
            <a:avLst/>
            <a:gdLst>
              <a:gd name="connsiteX0" fmla="*/ 0 w 9448800"/>
              <a:gd name="connsiteY0" fmla="*/ 0 h 7772401"/>
              <a:gd name="connsiteX1" fmla="*/ 9448800 w 9448800"/>
              <a:gd name="connsiteY1" fmla="*/ 0 h 7772401"/>
              <a:gd name="connsiteX2" fmla="*/ 9448800 w 9448800"/>
              <a:gd name="connsiteY2" fmla="*/ 7772401 h 7772401"/>
              <a:gd name="connsiteX3" fmla="*/ 0 w 9448800"/>
              <a:gd name="connsiteY3" fmla="*/ 7772401 h 777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48800" h="7772401">
                <a:moveTo>
                  <a:pt x="0" y="0"/>
                </a:moveTo>
                <a:lnTo>
                  <a:pt x="9448800" y="0"/>
                </a:lnTo>
                <a:lnTo>
                  <a:pt x="9448800" y="7772401"/>
                </a:lnTo>
                <a:lnTo>
                  <a:pt x="0" y="7772401"/>
                </a:lnTo>
                <a:close/>
              </a:path>
            </a:pathLst>
          </a:cu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C85D55-B9BF-8AC5-BF9D-81A20C2F38DF}"/>
              </a:ext>
            </a:extLst>
          </p:cNvPr>
          <p:cNvCxnSpPr>
            <a:cxnSpLocks/>
          </p:cNvCxnSpPr>
          <p:nvPr/>
        </p:nvCxnSpPr>
        <p:spPr>
          <a:xfrm>
            <a:off x="3336636" y="5640412"/>
            <a:ext cx="26489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EF2B01-DDF2-D522-F00D-AF3B3EBC1292}"/>
              </a:ext>
            </a:extLst>
          </p:cNvPr>
          <p:cNvCxnSpPr>
            <a:cxnSpLocks/>
          </p:cNvCxnSpPr>
          <p:nvPr/>
        </p:nvCxnSpPr>
        <p:spPr>
          <a:xfrm>
            <a:off x="6206375" y="5640412"/>
            <a:ext cx="26489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E48DFB07-96BF-4596-6B8A-2490A679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19" y="2777449"/>
            <a:ext cx="10634679" cy="1307054"/>
          </a:xfrm>
        </p:spPr>
        <p:txBody>
          <a:bodyPr/>
          <a:lstStyle>
            <a:lvl1pPr>
              <a:lnSpc>
                <a:spcPct val="85000"/>
              </a:lnSpc>
              <a:defRPr sz="5294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35C1E30-0CC6-6E56-27F8-4A1FBD8AEF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5302" y="822959"/>
            <a:ext cx="8390313" cy="72574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2118" b="1" cap="all" baseline="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  <a:lvl2pPr>
              <a:defRPr>
                <a:solidFill>
                  <a:srgbClr val="FF0000"/>
                </a:solidFill>
                <a:latin typeface="+mj-lt"/>
              </a:defRPr>
            </a:lvl2pPr>
            <a:lvl3pPr>
              <a:defRPr>
                <a:solidFill>
                  <a:srgbClr val="FF0000"/>
                </a:solidFill>
                <a:latin typeface="+mj-lt"/>
              </a:defRPr>
            </a:lvl3pPr>
            <a:lvl4pPr>
              <a:defRPr>
                <a:solidFill>
                  <a:srgbClr val="FF0000"/>
                </a:solidFill>
                <a:latin typeface="+mj-lt"/>
              </a:defRPr>
            </a:lvl4pPr>
            <a:lvl5pPr>
              <a:defRPr>
                <a:solidFill>
                  <a:srgbClr val="FF0000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A625923-D4EB-C31B-A300-4A5E68D3B4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95302" y="2080692"/>
            <a:ext cx="8390313" cy="41148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103000"/>
              </a:lnSpc>
              <a:spcBef>
                <a:spcPts val="0"/>
              </a:spcBef>
              <a:defRPr sz="1235" cap="none" baseline="0">
                <a:solidFill>
                  <a:schemeClr val="tx1"/>
                </a:solidFill>
              </a:defRPr>
            </a:lvl1pPr>
            <a:lvl2pPr>
              <a:lnSpc>
                <a:spcPct val="103000"/>
              </a:lnSpc>
              <a:defRPr sz="1235">
                <a:solidFill>
                  <a:srgbClr val="FF0000"/>
                </a:solidFill>
              </a:defRPr>
            </a:lvl2pPr>
            <a:lvl3pPr>
              <a:lnSpc>
                <a:spcPct val="103000"/>
              </a:lnSpc>
              <a:defRPr sz="1235">
                <a:solidFill>
                  <a:srgbClr val="FF0000"/>
                </a:solidFill>
              </a:defRPr>
            </a:lvl3pPr>
            <a:lvl4pPr>
              <a:lnSpc>
                <a:spcPct val="103000"/>
              </a:lnSpc>
              <a:defRPr sz="1235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defRPr sz="1235"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/>
              <a:t>Click 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A0BC91D-2A9D-0861-D81E-4AFE739522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5302" y="4345881"/>
            <a:ext cx="8390313" cy="40739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3000"/>
              </a:lnSpc>
              <a:spcBef>
                <a:spcPts val="0"/>
              </a:spcBef>
              <a:defRPr sz="1235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70FB9E8-1FA2-1BB9-8CD5-7ED5791C8A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36175" y="5245784"/>
            <a:ext cx="2648989" cy="33886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103000"/>
              </a:lnSpc>
              <a:spcBef>
                <a:spcPts val="0"/>
              </a:spcBef>
              <a:defRPr sz="2382">
                <a:solidFill>
                  <a:schemeClr val="tx1"/>
                </a:solidFill>
                <a:latin typeface="Rastanty Cortez" panose="02000506000000020003" pitchFamily="2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76EC103-F8A4-4C1F-B558-22E170954D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6175" y="5696175"/>
            <a:ext cx="2648989" cy="33886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103000"/>
              </a:lnSpc>
              <a:spcBef>
                <a:spcPts val="0"/>
              </a:spcBef>
              <a:defRPr sz="927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19BAB0D-EE3A-10C2-7CF6-A11A9AA10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06836" y="5245784"/>
            <a:ext cx="2648989" cy="33886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103000"/>
              </a:lnSpc>
              <a:spcBef>
                <a:spcPts val="0"/>
              </a:spcBef>
              <a:defRPr sz="1235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4A8156F-F412-4A2A-7EC4-423DFA3374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6836" y="5696175"/>
            <a:ext cx="2648989" cy="33886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103000"/>
              </a:lnSpc>
              <a:spcBef>
                <a:spcPts val="0"/>
              </a:spcBef>
              <a:defRPr sz="927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29076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5D675-890F-455C-BB3E-71DA18A8EC07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FE8034-AB15-4A80-8E23-F9AE35B821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3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5D675-890F-455C-BB3E-71DA18A8EC07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304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71229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640080"/>
            <a:ext cx="7478991" cy="3635797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0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440" y="4842220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4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673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334808"/>
            <a:ext cx="8229599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88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1807950" cy="4769446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6023021"/>
            <a:ext cx="10690154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7" y="4944365"/>
            <a:ext cx="10690154" cy="914482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953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2532" y="244342"/>
            <a:ext cx="85381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05510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05510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499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88802" y="0"/>
            <a:ext cx="6619138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1E3A5278-B5E1-FBBE-AF4B-151288A1669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9347" y="228600"/>
            <a:ext cx="841248" cy="384048"/>
          </a:xfrm>
        </p:spPr>
        <p:txBody>
          <a:bodyPr/>
          <a:lstStyle/>
          <a:p>
            <a:fld id="{1FE1A989-42EF-40B2-87AB-6941C231CD4A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78D40854-7295-C18A-ECA9-35F0B7731B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9332362" y="3316833"/>
            <a:ext cx="5335225" cy="38405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EA127F09-58C9-5029-F86D-539EE848D4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 rot="16200000">
            <a:off x="11659214" y="6325209"/>
            <a:ext cx="681526" cy="38405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4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A26D96A-42E4-8591-AB40-44F5803CFF6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0"/>
            <a:ext cx="609600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5557298"/>
            <a:ext cx="5091864" cy="883258"/>
          </a:xfrm>
        </p:spPr>
        <p:txBody>
          <a:bodyPr lIns="91440" tIns="9144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417444"/>
            <a:ext cx="5091864" cy="4890965"/>
          </a:xfrm>
        </p:spPr>
        <p:txBody>
          <a:bodyPr lIns="91440" tIns="91440" rIns="0" bIns="0" anchor="b">
            <a:noAutofit/>
          </a:bodyPr>
          <a:lstStyle>
            <a:lvl1pPr algn="l"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366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7DE541-D546-A518-2627-DF4D33C643AA}"/>
              </a:ext>
            </a:extLst>
          </p:cNvPr>
          <p:cNvSpPr/>
          <p:nvPr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640077"/>
            <a:ext cx="7763256" cy="59463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630067"/>
            <a:ext cx="7772400" cy="4572000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457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" y="2662000"/>
            <a:ext cx="8467558" cy="355456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64108"/>
            <a:ext cx="8467558" cy="155448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7762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40312"/>
            <a:ext cx="11442188" cy="56769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15874"/>
            <a:ext cx="11442188" cy="528186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128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367091"/>
            <a:ext cx="11422799" cy="612381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135"/>
            <a:ext cx="10515600" cy="1325880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223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76" y="2220977"/>
            <a:ext cx="10688608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10690155" cy="118554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939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3992" y="2386584"/>
            <a:ext cx="4804811" cy="245973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2385975"/>
            <a:ext cx="4804812" cy="245479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552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78295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D74ED7B-D05F-9923-6EB3-4AA483A680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14320" y="1538288"/>
            <a:ext cx="5824481" cy="475234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537853"/>
            <a:ext cx="4317026" cy="475277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44911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8655" y="640080"/>
            <a:ext cx="5779644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51" y="640080"/>
            <a:ext cx="4296522" cy="557648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017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5995" y="640080"/>
            <a:ext cx="6802805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3338701" cy="557648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2290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50" y="230002"/>
            <a:ext cx="844059" cy="384049"/>
          </a:xfrm>
        </p:spPr>
        <p:txBody>
          <a:bodyPr/>
          <a:lstStyle/>
          <a:p>
            <a:fld id="{8FACD271-2BB0-4C13-9E3A-50B90F57CA5B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2532" y="2220977"/>
            <a:ext cx="5896267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532" y="640080"/>
            <a:ext cx="5896266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64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4072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7" y="3338289"/>
            <a:ext cx="5372504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1" y="6345259"/>
            <a:ext cx="641434" cy="38404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282871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21" y="640080"/>
            <a:ext cx="6282871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1282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79614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48" y="230003"/>
            <a:ext cx="844058" cy="384051"/>
          </a:xfrm>
        </p:spPr>
        <p:txBody>
          <a:bodyPr/>
          <a:lstStyle/>
          <a:p>
            <a:fld id="{1A5F77D0-C28E-4573-88F0-0A30FF98888E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4788" y="2220977"/>
            <a:ext cx="6894013" cy="399558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788" y="640080"/>
            <a:ext cx="6894013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117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07688" y="0"/>
            <a:ext cx="4100261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4" y="3338288"/>
            <a:ext cx="5372504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3" y="6345259"/>
            <a:ext cx="641434" cy="38404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569391" cy="3995588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6569391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8556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59" cy="38404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80661" y="2506738"/>
            <a:ext cx="4058141" cy="370847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661" y="640080"/>
            <a:ext cx="4058142" cy="14699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2412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2313" y="0"/>
            <a:ext cx="6445856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69792" y="219040"/>
            <a:ext cx="841248" cy="403167"/>
          </a:xfrm>
        </p:spPr>
        <p:txBody>
          <a:bodyPr/>
          <a:lstStyle/>
          <a:p>
            <a:fld id="{41D22668-A3AE-429F-A351-A1583BA90793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2759" y="3327321"/>
            <a:ext cx="5375314" cy="4031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9700" y="6335696"/>
            <a:ext cx="641433" cy="403167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506737"/>
            <a:ext cx="4243632" cy="370982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07" y="640079"/>
            <a:ext cx="4244436" cy="14703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564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60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40888" y="1745672"/>
            <a:ext cx="4218419" cy="44708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9" y="640080"/>
            <a:ext cx="4217598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9626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24251" y="0"/>
            <a:ext cx="627428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4644" y="223888"/>
            <a:ext cx="841248" cy="393471"/>
          </a:xfrm>
        </p:spPr>
        <p:txBody>
          <a:bodyPr/>
          <a:lstStyle/>
          <a:p>
            <a:fld id="{46C70014-48FC-4647-9615-BBD39F98887D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7611" y="3332170"/>
            <a:ext cx="5375316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5228" y="6339869"/>
            <a:ext cx="640080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1602889"/>
            <a:ext cx="4426953" cy="46136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320040"/>
            <a:ext cx="4426953" cy="11537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986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9353" y="228599"/>
            <a:ext cx="841248" cy="384051"/>
          </a:xfrm>
        </p:spPr>
        <p:txBody>
          <a:bodyPr/>
          <a:lstStyle/>
          <a:p>
            <a:fld id="{C089F4EF-3CDF-46D7-ADF4-3A52C84FD8BE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2317" y="3336881"/>
            <a:ext cx="5375316" cy="38405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2918" y="2285999"/>
            <a:ext cx="3126383" cy="39305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791" y="640079"/>
            <a:ext cx="3126511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7629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2601" y="0"/>
            <a:ext cx="7430217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1787" y="227618"/>
            <a:ext cx="841248" cy="379182"/>
          </a:xfrm>
        </p:spPr>
        <p:txBody>
          <a:bodyPr/>
          <a:lstStyle/>
          <a:p>
            <a:fld id="{E635C43F-DBB1-4D83-B442-E1529AA900C2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304" y="3318349"/>
            <a:ext cx="5340213" cy="37918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2434" y="6328433"/>
            <a:ext cx="679953" cy="37918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346897"/>
            <a:ext cx="3285306" cy="383115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9"/>
            <a:ext cx="3285306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7696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8816" y="228597"/>
            <a:ext cx="841248" cy="38405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18449" y="3340209"/>
            <a:ext cx="5372517" cy="374587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2894707" cy="2953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2894707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318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463513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320" y="5070445"/>
            <a:ext cx="5803979" cy="13321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1pPr>
            <a:lvl2pPr marL="2286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2pPr>
            <a:lvl3pPr marL="4572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3pPr>
            <a:lvl4pPr marL="685800" indent="0">
              <a:lnSpc>
                <a:spcPct val="100000"/>
              </a:lnSpc>
              <a:buFont typeface="Arial" panose="020B0604020202020204" pitchFamily="34" charset="0"/>
              <a:buNone/>
              <a:defRPr sz="1100"/>
            </a:lvl4pPr>
            <a:lvl5pPr marL="914400" indent="0">
              <a:lnSpc>
                <a:spcPct val="100000"/>
              </a:lnSpc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5070446"/>
            <a:ext cx="4317026" cy="133215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8152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21144" y="4197652"/>
            <a:ext cx="7317660" cy="2204945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4194674"/>
            <a:ext cx="2823849" cy="220494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1750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79730"/>
            <a:ext cx="11807947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56490" y="251460"/>
            <a:ext cx="886968" cy="384048"/>
          </a:xfrm>
        </p:spPr>
        <p:txBody>
          <a:bodyPr/>
          <a:lstStyle/>
          <a:p>
            <a:fld id="{9128053F-E531-4885-B604-CF1A6DEEE405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422" y="3362497"/>
            <a:ext cx="5335109" cy="38404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934" y="6350094"/>
            <a:ext cx="640080" cy="38404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9328" y="640077"/>
            <a:ext cx="7099472" cy="2016112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7"/>
            <a:ext cx="3021529" cy="201195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0708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9152" y="1993348"/>
            <a:ext cx="5442604" cy="4220413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0910" y="1993349"/>
            <a:ext cx="4657891" cy="4220413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4" cy="93388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0944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490726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4554" y="640077"/>
            <a:ext cx="5234247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4907265" cy="16025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4855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387162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8917" y="640077"/>
            <a:ext cx="6249382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3871623" cy="1602540"/>
          </a:xfrm>
        </p:spPr>
        <p:txBody>
          <a:bodyPr lIns="91440" tIns="9144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978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5299364"/>
            <a:ext cx="10746884" cy="91439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746881" cy="4261106"/>
          </a:xfrm>
        </p:spPr>
        <p:txBody>
          <a:bodyPr anchor="b">
            <a:normAutofit/>
          </a:bodyPr>
          <a:lstStyle>
            <a:lvl1pPr algn="l">
              <a:defRPr sz="20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276585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036890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EAFE8D-E6F6-F95B-AE55-3E20B32F4478}"/>
              </a:ext>
            </a:extLst>
          </p:cNvPr>
          <p:cNvSpPr/>
          <p:nvPr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3EFCC7-B7E8-4ABE-BBCB-C75FD27800CD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7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88730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A1F3-DA5D-4F2E-B759-748FF8D0ACA9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1"/>
            </a:lvl1pPr>
            <a:lvl2pPr marL="228600" indent="0">
              <a:lnSpc>
                <a:spcPct val="100000"/>
              </a:lnSpc>
              <a:buNone/>
              <a:defRPr sz="40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888197"/>
            <a:ext cx="10652760" cy="7790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05539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1322-4C31-4D1F-88B1-5F79F56892AE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-841525"/>
            <a:ext cx="8238746" cy="5910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841257"/>
            <a:ext cx="9764686" cy="537250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6243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9102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938443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80CAA-82CE-AE1A-79D9-74B40375C465}"/>
              </a:ext>
            </a:extLst>
          </p:cNvPr>
          <p:cNvSpPr/>
          <p:nvPr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4073661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076" y="5669280"/>
            <a:ext cx="8933691" cy="544482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078" y="1234440"/>
            <a:ext cx="893369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6288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066601" cy="4351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1825624"/>
            <a:ext cx="5066602" cy="43881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3" cy="10408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3826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8076" y="2387600"/>
            <a:ext cx="5010725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76" y="1826185"/>
            <a:ext cx="501072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2387600"/>
            <a:ext cx="5110276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6" y="1826185"/>
            <a:ext cx="511027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8"/>
            <a:ext cx="10690157" cy="10506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80124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7189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5494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260" y="640078"/>
            <a:ext cx="6195542" cy="557368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470245"/>
            <a:ext cx="3945971" cy="374351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2" y="640078"/>
            <a:ext cx="3945971" cy="1671043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71883" y="640079"/>
            <a:ext cx="6285582" cy="5573684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826137"/>
            <a:ext cx="3879130" cy="338762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07" y="640079"/>
            <a:ext cx="3879129" cy="202192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8115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0645BE-AC35-911F-0084-2CC2C836EB4D}"/>
              </a:ext>
            </a:extLst>
          </p:cNvPr>
          <p:cNvSpPr/>
          <p:nvPr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8" y="3594099"/>
            <a:ext cx="10690154" cy="26196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1847088"/>
            <a:ext cx="7408336" cy="1133856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159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E2D40-0539-03CF-D61C-37822ABA17A8}"/>
              </a:ext>
            </a:extLst>
          </p:cNvPr>
          <p:cNvSpPr/>
          <p:nvPr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3792262"/>
            <a:ext cx="8494767" cy="127961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627318"/>
            <a:ext cx="8494767" cy="184202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609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46C58F9-5CE0-4282-46E0-3E3A700FDB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  <a:custGeom>
            <a:avLst/>
            <a:gdLst>
              <a:gd name="connsiteX0" fmla="*/ 2179508 w 4597556"/>
              <a:gd name="connsiteY0" fmla="*/ 0 h 5549900"/>
              <a:gd name="connsiteX1" fmla="*/ 4597556 w 4597556"/>
              <a:gd name="connsiteY1" fmla="*/ 0 h 5549900"/>
              <a:gd name="connsiteX2" fmla="*/ 4597556 w 4597556"/>
              <a:gd name="connsiteY2" fmla="*/ 2476634 h 5549900"/>
              <a:gd name="connsiteX3" fmla="*/ 4502141 w 4597556"/>
              <a:gd name="connsiteY3" fmla="*/ 2476634 h 5549900"/>
              <a:gd name="connsiteX4" fmla="*/ 4502141 w 4597556"/>
              <a:gd name="connsiteY4" fmla="*/ 4729244 h 5549900"/>
              <a:gd name="connsiteX5" fmla="*/ 4597556 w 4597556"/>
              <a:gd name="connsiteY5" fmla="*/ 4729244 h 5549900"/>
              <a:gd name="connsiteX6" fmla="*/ 4597556 w 4597556"/>
              <a:gd name="connsiteY6" fmla="*/ 5549900 h 5549900"/>
              <a:gd name="connsiteX7" fmla="*/ 0 w 4597556"/>
              <a:gd name="connsiteY7" fmla="*/ 5549900 h 5549900"/>
              <a:gd name="connsiteX8" fmla="*/ 0 w 4597556"/>
              <a:gd name="connsiteY8" fmla="*/ 1321566 h 5549900"/>
              <a:gd name="connsiteX9" fmla="*/ 2179508 w 4597556"/>
              <a:gd name="connsiteY9" fmla="*/ 1321566 h 55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7556" h="5549900">
                <a:moveTo>
                  <a:pt x="2179508" y="0"/>
                </a:moveTo>
                <a:lnTo>
                  <a:pt x="4597556" y="0"/>
                </a:lnTo>
                <a:lnTo>
                  <a:pt x="4597556" y="2476634"/>
                </a:lnTo>
                <a:lnTo>
                  <a:pt x="4502141" y="2476634"/>
                </a:lnTo>
                <a:lnTo>
                  <a:pt x="4502141" y="4729244"/>
                </a:lnTo>
                <a:lnTo>
                  <a:pt x="4597556" y="4729244"/>
                </a:lnTo>
                <a:lnTo>
                  <a:pt x="4597556" y="5549900"/>
                </a:lnTo>
                <a:lnTo>
                  <a:pt x="0" y="5549900"/>
                </a:lnTo>
                <a:lnTo>
                  <a:pt x="0" y="1321566"/>
                </a:lnTo>
                <a:lnTo>
                  <a:pt x="2179508" y="1321566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79D49B1-D905-CE2E-C062-AB1BDD014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C8BC9-F44B-803F-5CD7-ADFC9673F0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AA75D29-C079-E864-B363-40064D1938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5BB9C8-B774-7D15-8251-AC8ED5B99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3" y="3130095"/>
            <a:ext cx="228928" cy="225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E262A-1515-660C-5ACF-699ADA35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1720" y="640080"/>
            <a:ext cx="2743200" cy="13349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2" y="3127248"/>
            <a:ext cx="4533398" cy="3108960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4533398" cy="2157984"/>
          </a:xfrm>
        </p:spPr>
        <p:txBody>
          <a:bodyPr lIns="91440" tIns="9144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0122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F02D30-CC17-F516-802A-A3AE633BF025}"/>
              </a:ext>
            </a:extLst>
          </p:cNvPr>
          <p:cNvSpPr/>
          <p:nvPr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DDC100-1ACB-74B7-3CAE-F0DD05CBE963}"/>
              </a:ext>
            </a:extLst>
          </p:cNvPr>
          <p:cNvSpPr/>
          <p:nvPr/>
        </p:nvSpPr>
        <p:spPr>
          <a:xfrm>
            <a:off x="4903412" y="3140474"/>
            <a:ext cx="1314946" cy="1314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7566-C08A-6609-9FDF-AAFB5486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F4BAE-32D2-0950-CD30-3DC3084BBE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AA1005-37B1-E8E2-5040-5D847E1FC4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7" y="2355925"/>
            <a:ext cx="4545393" cy="3843707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4545395" cy="1403873"/>
          </a:xfrm>
        </p:spPr>
        <p:txBody>
          <a:bodyPr lIns="9144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69635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number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FA618DAB-55E2-19CE-F259-9FB708A90B63}"/>
              </a:ext>
            </a:extLst>
          </p:cNvPr>
          <p:cNvSpPr/>
          <p:nvPr/>
        </p:nvSpPr>
        <p:spPr>
          <a:xfrm>
            <a:off x="1959756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796A4-60C9-8766-B669-134765EE1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0" cy="6857999"/>
          </a:xfrm>
          <a:custGeom>
            <a:avLst/>
            <a:gdLst>
              <a:gd name="connsiteX0" fmla="*/ 778317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8852792 w 12192000"/>
              <a:gd name="connsiteY3" fmla="*/ 6857999 h 6857999"/>
              <a:gd name="connsiteX4" fmla="*/ 8985470 w 12192000"/>
              <a:gd name="connsiteY4" fmla="*/ 6735959 h 6857999"/>
              <a:gd name="connsiteX5" fmla="*/ 10232243 w 12192000"/>
              <a:gd name="connsiteY5" fmla="*/ 3776315 h 6857999"/>
              <a:gd name="connsiteX6" fmla="*/ 7889232 w 12192000"/>
              <a:gd name="connsiteY6" fmla="*/ 47950 h 6857999"/>
              <a:gd name="connsiteX7" fmla="*/ 0 w 12192000"/>
              <a:gd name="connsiteY7" fmla="*/ 0 h 6857999"/>
              <a:gd name="connsiteX8" fmla="*/ 4408830 w 12192000"/>
              <a:gd name="connsiteY8" fmla="*/ 0 h 6857999"/>
              <a:gd name="connsiteX9" fmla="*/ 4302768 w 12192000"/>
              <a:gd name="connsiteY9" fmla="*/ 47950 h 6857999"/>
              <a:gd name="connsiteX10" fmla="*/ 1959755 w 12192000"/>
              <a:gd name="connsiteY10" fmla="*/ 3776315 h 6857999"/>
              <a:gd name="connsiteX11" fmla="*/ 3206528 w 12192000"/>
              <a:gd name="connsiteY11" fmla="*/ 6735959 h 6857999"/>
              <a:gd name="connsiteX12" fmla="*/ 3339206 w 12192000"/>
              <a:gd name="connsiteY12" fmla="*/ 6857999 h 6857999"/>
              <a:gd name="connsiteX13" fmla="*/ 0 w 12192000"/>
              <a:gd name="connsiteY1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7999">
                <a:moveTo>
                  <a:pt x="778317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8852792" y="6857999"/>
                </a:lnTo>
                <a:lnTo>
                  <a:pt x="8985470" y="6735959"/>
                </a:lnTo>
                <a:cubicBezTo>
                  <a:pt x="9754697" y="5984857"/>
                  <a:pt x="10232243" y="4936354"/>
                  <a:pt x="10232243" y="3776315"/>
                </a:cubicBezTo>
                <a:cubicBezTo>
                  <a:pt x="10232243" y="2134414"/>
                  <a:pt x="9275569" y="715956"/>
                  <a:pt x="7889232" y="47950"/>
                </a:cubicBezTo>
                <a:close/>
                <a:moveTo>
                  <a:pt x="0" y="0"/>
                </a:moveTo>
                <a:lnTo>
                  <a:pt x="4408830" y="0"/>
                </a:lnTo>
                <a:lnTo>
                  <a:pt x="4302768" y="47950"/>
                </a:lnTo>
                <a:cubicBezTo>
                  <a:pt x="2916429" y="715956"/>
                  <a:pt x="1959755" y="2134414"/>
                  <a:pt x="1959755" y="3776315"/>
                </a:cubicBezTo>
                <a:cubicBezTo>
                  <a:pt x="1959755" y="4936354"/>
                  <a:pt x="2437301" y="5984857"/>
                  <a:pt x="3206528" y="6735959"/>
                </a:cubicBezTo>
                <a:lnTo>
                  <a:pt x="3339206" y="6857999"/>
                </a:lnTo>
                <a:lnTo>
                  <a:pt x="0" y="6857999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3914349-C0B8-28DF-90F8-5E6D083FE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8642" y="5313785"/>
            <a:ext cx="4394716" cy="76477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3AC60-CD84-E768-28B4-375CFF097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367" y="1161826"/>
            <a:ext cx="6969267" cy="3808207"/>
          </a:xfrm>
        </p:spPr>
        <p:txBody>
          <a:bodyPr lIns="0" tIns="0" rIns="0" bIns="0" anchor="b">
            <a:noAutofit/>
          </a:bodyPr>
          <a:lstStyle>
            <a:lvl1pPr algn="ctr">
              <a:defRPr sz="200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99731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EFFF036-D459-D142-290E-9C1B19A24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274474 w 4577463"/>
              <a:gd name="connsiteY7" fmla="*/ 586012 h 3698875"/>
              <a:gd name="connsiteX8" fmla="*/ 363537 w 4577463"/>
              <a:gd name="connsiteY8" fmla="*/ 520753 h 3698875"/>
              <a:gd name="connsiteX9" fmla="*/ 391698 w 4577463"/>
              <a:gd name="connsiteY9" fmla="*/ 572636 h 3698875"/>
              <a:gd name="connsiteX10" fmla="*/ 927495 w 4577463"/>
              <a:gd name="connsiteY10" fmla="*/ 857517 h 3698875"/>
              <a:gd name="connsiteX11" fmla="*/ 1573644 w 4577463"/>
              <a:gd name="connsiteY11" fmla="*/ 211368 h 3698875"/>
              <a:gd name="connsiteX12" fmla="*/ 1560517 w 4577463"/>
              <a:gd name="connsiteY12" fmla="*/ 81147 h 3698875"/>
              <a:gd name="connsiteX13" fmla="*/ 1545169 w 4577463"/>
              <a:gd name="connsiteY13" fmla="*/ 31706 h 3698875"/>
              <a:gd name="connsiteX14" fmla="*/ 1668191 w 4577463"/>
              <a:gd name="connsiteY14" fmla="*/ 13227 h 3698875"/>
              <a:gd name="connsiteX15" fmla="*/ 1934275 w 4577463"/>
              <a:gd name="connsiteY15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147368" y="693734"/>
                  <a:pt x="209659" y="638373"/>
                  <a:pt x="274474" y="586012"/>
                </a:cubicBezTo>
                <a:lnTo>
                  <a:pt x="363537" y="520753"/>
                </a:lnTo>
                <a:lnTo>
                  <a:pt x="391698" y="572636"/>
                </a:lnTo>
                <a:cubicBezTo>
                  <a:pt x="507816" y="744513"/>
                  <a:pt x="704459" y="857517"/>
                  <a:pt x="927495" y="857517"/>
                </a:cubicBezTo>
                <a:cubicBezTo>
                  <a:pt x="1284353" y="857517"/>
                  <a:pt x="1573644" y="568226"/>
                  <a:pt x="1573644" y="211368"/>
                </a:cubicBezTo>
                <a:cubicBezTo>
                  <a:pt x="1573644" y="166761"/>
                  <a:pt x="1569124" y="123209"/>
                  <a:pt x="1560517" y="81147"/>
                </a:cubicBezTo>
                <a:lnTo>
                  <a:pt x="1545169" y="31706"/>
                </a:lnTo>
                <a:lnTo>
                  <a:pt x="1668191" y="13227"/>
                </a:lnTo>
                <a:cubicBezTo>
                  <a:pt x="1755699" y="4480"/>
                  <a:pt x="1844464" y="0"/>
                  <a:pt x="1934275" y="0"/>
                </a:cubicBez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F89ECF-F048-57F5-57EF-0CAB335C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346" y="2724345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34828" y="640077"/>
            <a:ext cx="5783472" cy="5573685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8" y="640078"/>
            <a:ext cx="4317028" cy="2084268"/>
          </a:xfrm>
        </p:spPr>
        <p:txBody>
          <a:bodyPr lIns="91440" tIns="9144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4757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041D3CD-4172-159B-50BA-195FCCAE119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089921" cy="4639206"/>
          </a:xfrm>
          <a:custGeom>
            <a:avLst/>
            <a:gdLst>
              <a:gd name="connsiteX0" fmla="*/ 0 w 4089921"/>
              <a:gd name="connsiteY0" fmla="*/ 0 h 4639206"/>
              <a:gd name="connsiteX1" fmla="*/ 3216644 w 4089921"/>
              <a:gd name="connsiteY1" fmla="*/ 0 h 4639206"/>
              <a:gd name="connsiteX2" fmla="*/ 3308243 w 4089921"/>
              <a:gd name="connsiteY2" fmla="*/ 83250 h 4639206"/>
              <a:gd name="connsiteX3" fmla="*/ 4089921 w 4089921"/>
              <a:gd name="connsiteY3" fmla="*/ 1970389 h 4639206"/>
              <a:gd name="connsiteX4" fmla="*/ 3308243 w 4089921"/>
              <a:gd name="connsiteY4" fmla="*/ 3857528 h 4639206"/>
              <a:gd name="connsiteX5" fmla="*/ 3279358 w 4089921"/>
              <a:gd name="connsiteY5" fmla="*/ 3883780 h 4639206"/>
              <a:gd name="connsiteX6" fmla="*/ 3254520 w 4089921"/>
              <a:gd name="connsiteY6" fmla="*/ 3853677 h 4639206"/>
              <a:gd name="connsiteX7" fmla="*/ 2797624 w 4089921"/>
              <a:gd name="connsiteY7" fmla="*/ 3664424 h 4639206"/>
              <a:gd name="connsiteX8" fmla="*/ 2151475 w 4089921"/>
              <a:gd name="connsiteY8" fmla="*/ 4310573 h 4639206"/>
              <a:gd name="connsiteX9" fmla="*/ 2164603 w 4089921"/>
              <a:gd name="connsiteY9" fmla="*/ 4440795 h 4639206"/>
              <a:gd name="connsiteX10" fmla="*/ 2190853 w 4089921"/>
              <a:gd name="connsiteY10" fmla="*/ 4525361 h 4639206"/>
              <a:gd name="connsiteX11" fmla="*/ 1958964 w 4089921"/>
              <a:gd name="connsiteY11" fmla="*/ 4584985 h 4639206"/>
              <a:gd name="connsiteX12" fmla="*/ 1421104 w 4089921"/>
              <a:gd name="connsiteY12" fmla="*/ 4639206 h 4639206"/>
              <a:gd name="connsiteX13" fmla="*/ 148987 w 4089921"/>
              <a:gd name="connsiteY13" fmla="*/ 4317094 h 4639206"/>
              <a:gd name="connsiteX14" fmla="*/ 0 w 4089921"/>
              <a:gd name="connsiteY14" fmla="*/ 4226582 h 463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89921" h="4639206">
                <a:moveTo>
                  <a:pt x="0" y="0"/>
                </a:moveTo>
                <a:lnTo>
                  <a:pt x="3216644" y="0"/>
                </a:lnTo>
                <a:lnTo>
                  <a:pt x="3308243" y="83250"/>
                </a:lnTo>
                <a:cubicBezTo>
                  <a:pt x="3791204" y="566211"/>
                  <a:pt x="4089921" y="1233416"/>
                  <a:pt x="4089921" y="1970389"/>
                </a:cubicBezTo>
                <a:cubicBezTo>
                  <a:pt x="4089921" y="2707363"/>
                  <a:pt x="3791204" y="3374567"/>
                  <a:pt x="3308243" y="3857528"/>
                </a:cubicBezTo>
                <a:lnTo>
                  <a:pt x="3279358" y="3883780"/>
                </a:lnTo>
                <a:lnTo>
                  <a:pt x="3254520" y="3853677"/>
                </a:lnTo>
                <a:cubicBezTo>
                  <a:pt x="3137590" y="3736747"/>
                  <a:pt x="2976053" y="3664424"/>
                  <a:pt x="2797624" y="3664424"/>
                </a:cubicBezTo>
                <a:cubicBezTo>
                  <a:pt x="2440766" y="3664424"/>
                  <a:pt x="2151475" y="3953715"/>
                  <a:pt x="2151475" y="4310573"/>
                </a:cubicBezTo>
                <a:cubicBezTo>
                  <a:pt x="2151475" y="4355180"/>
                  <a:pt x="2155995" y="4398732"/>
                  <a:pt x="2164603" y="4440795"/>
                </a:cubicBezTo>
                <a:lnTo>
                  <a:pt x="2190853" y="4525361"/>
                </a:lnTo>
                <a:lnTo>
                  <a:pt x="1958964" y="4584985"/>
                </a:lnTo>
                <a:cubicBezTo>
                  <a:pt x="1785230" y="4620536"/>
                  <a:pt x="1605347" y="4639206"/>
                  <a:pt x="1421104" y="4639206"/>
                </a:cubicBezTo>
                <a:cubicBezTo>
                  <a:pt x="960496" y="4639206"/>
                  <a:pt x="527141" y="4522520"/>
                  <a:pt x="148987" y="4317094"/>
                </a:cubicBezTo>
                <a:lnTo>
                  <a:pt x="0" y="422658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A47180-C126-D9FC-1291-43F1766DE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1476" y="3664424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12/23/2025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577" y="5142155"/>
            <a:ext cx="6538723" cy="1071607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577" y="640078"/>
            <a:ext cx="6538722" cy="4179348"/>
          </a:xfrm>
        </p:spPr>
        <p:txBody>
          <a:bodyPr lIns="91440" tIns="0" rIns="0" bIns="0" anchor="b">
            <a:noAutofit/>
          </a:bodyPr>
          <a:lstStyle>
            <a:lvl1pPr>
              <a:defRPr sz="20000" baseline="0"/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80541839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5D675-890F-455C-BB3E-71DA18A8EC07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643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237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5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5D675-890F-455C-BB3E-71DA18A8EC07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154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74079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22945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15678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350171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83938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44388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26420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802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190179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8809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899271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0308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5488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5CC9-ACBC-4F41-893C-06CDEFA85144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footer here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7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42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8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8.xml"/><Relationship Id="rId53" Type="http://schemas.openxmlformats.org/officeDocument/2006/relationships/slideLayout" Target="../slideLayouts/slideLayout56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8.xml"/><Relationship Id="rId43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51.xml"/><Relationship Id="rId56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1.xml"/><Relationship Id="rId51" Type="http://schemas.openxmlformats.org/officeDocument/2006/relationships/slideLayout" Target="../slideLayouts/slideLayout54.xml"/><Relationship Id="rId3" Type="http://schemas.openxmlformats.org/officeDocument/2006/relationships/slideLayout" Target="../slideLayouts/slideLayout6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41.xml"/><Relationship Id="rId4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23.xml"/><Relationship Id="rId41" Type="http://schemas.openxmlformats.org/officeDocument/2006/relationships/slideLayout" Target="../slideLayouts/slideLayout44.xml"/><Relationship Id="rId54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52.xml"/><Relationship Id="rId57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13.xml"/><Relationship Id="rId31" Type="http://schemas.openxmlformats.org/officeDocument/2006/relationships/slideLayout" Target="../slideLayouts/slideLayout34.xml"/><Relationship Id="rId44" Type="http://schemas.openxmlformats.org/officeDocument/2006/relationships/slideLayout" Target="../slideLayouts/slideLayout47.xml"/><Relationship Id="rId52" Type="http://schemas.openxmlformats.org/officeDocument/2006/relationships/slideLayout" Target="../slideLayouts/slideLayout5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49" y="483256"/>
            <a:ext cx="10754592" cy="17544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EBD94-8342-6F80-BFA5-F969A2986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969" y="2400548"/>
            <a:ext cx="10772872" cy="377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16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</p:sldLayoutIdLst>
  <p:txStyles>
    <p:titleStyle>
      <a:lvl1pPr algn="ctr" defTabSz="907725" rtl="0" eaLnBrk="1" latinLnBrk="0" hangingPunct="1">
        <a:lnSpc>
          <a:spcPct val="103000"/>
        </a:lnSpc>
        <a:spcBef>
          <a:spcPct val="0"/>
        </a:spcBef>
        <a:buNone/>
        <a:defRPr sz="3971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07725" rtl="0" eaLnBrk="1" latinLnBrk="0" hangingPunct="1">
        <a:lnSpc>
          <a:spcPct val="103000"/>
        </a:lnSpc>
        <a:spcBef>
          <a:spcPts val="993"/>
        </a:spcBef>
        <a:buFontTx/>
        <a:buNone/>
        <a:defRPr sz="1235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ctr" defTabSz="907725" rtl="0" eaLnBrk="1" latinLnBrk="0" hangingPunct="1">
        <a:lnSpc>
          <a:spcPct val="103000"/>
        </a:lnSpc>
        <a:spcBef>
          <a:spcPts val="497"/>
        </a:spcBef>
        <a:buFontTx/>
        <a:buNone/>
        <a:defRPr sz="123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ctr" defTabSz="907725" rtl="0" eaLnBrk="1" latinLnBrk="0" hangingPunct="1">
        <a:lnSpc>
          <a:spcPct val="103000"/>
        </a:lnSpc>
        <a:spcBef>
          <a:spcPts val="0"/>
        </a:spcBef>
        <a:buFontTx/>
        <a:buNone/>
        <a:defRPr sz="123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ctr" defTabSz="907725" rtl="0" eaLnBrk="1" latinLnBrk="0" hangingPunct="1">
        <a:lnSpc>
          <a:spcPct val="103000"/>
        </a:lnSpc>
        <a:spcBef>
          <a:spcPts val="0"/>
        </a:spcBef>
        <a:buFontTx/>
        <a:buNone/>
        <a:defRPr sz="1235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ctr" defTabSz="907725" rtl="0" eaLnBrk="1" latinLnBrk="0" hangingPunct="1">
        <a:lnSpc>
          <a:spcPct val="103000"/>
        </a:lnSpc>
        <a:spcBef>
          <a:spcPts val="497"/>
        </a:spcBef>
        <a:buFontTx/>
        <a:buNone/>
        <a:defRPr sz="1235" kern="1200">
          <a:solidFill>
            <a:schemeClr val="tx1"/>
          </a:solidFill>
          <a:latin typeface="+mn-lt"/>
          <a:ea typeface="+mn-ea"/>
          <a:cs typeface="+mn-cs"/>
        </a:defRPr>
      </a:lvl5pPr>
      <a:lvl6pPr marL="2496243" indent="-226931" algn="l" defTabSz="907725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87" kern="1200">
          <a:solidFill>
            <a:schemeClr val="tx1"/>
          </a:solidFill>
          <a:latin typeface="+mn-lt"/>
          <a:ea typeface="+mn-ea"/>
          <a:cs typeface="+mn-cs"/>
        </a:defRPr>
      </a:lvl6pPr>
      <a:lvl7pPr marL="2950106" indent="-226931" algn="l" defTabSz="907725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87" kern="1200">
          <a:solidFill>
            <a:schemeClr val="tx1"/>
          </a:solidFill>
          <a:latin typeface="+mn-lt"/>
          <a:ea typeface="+mn-ea"/>
          <a:cs typeface="+mn-cs"/>
        </a:defRPr>
      </a:lvl7pPr>
      <a:lvl8pPr marL="3403968" indent="-226931" algn="l" defTabSz="907725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87" kern="1200">
          <a:solidFill>
            <a:schemeClr val="tx1"/>
          </a:solidFill>
          <a:latin typeface="+mn-lt"/>
          <a:ea typeface="+mn-ea"/>
          <a:cs typeface="+mn-cs"/>
        </a:defRPr>
      </a:lvl8pPr>
      <a:lvl9pPr marL="3857831" indent="-226931" algn="l" defTabSz="907725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7725" rtl="0" eaLnBrk="1" latinLnBrk="0" hangingPunct="1">
        <a:defRPr sz="1787" kern="1200">
          <a:solidFill>
            <a:schemeClr val="tx1"/>
          </a:solidFill>
          <a:latin typeface="+mn-lt"/>
          <a:ea typeface="+mn-ea"/>
          <a:cs typeface="+mn-cs"/>
        </a:defRPr>
      </a:lvl1pPr>
      <a:lvl2pPr marL="453862" algn="l" defTabSz="907725" rtl="0" eaLnBrk="1" latinLnBrk="0" hangingPunct="1">
        <a:defRPr sz="1787" kern="1200">
          <a:solidFill>
            <a:schemeClr val="tx1"/>
          </a:solidFill>
          <a:latin typeface="+mn-lt"/>
          <a:ea typeface="+mn-ea"/>
          <a:cs typeface="+mn-cs"/>
        </a:defRPr>
      </a:lvl2pPr>
      <a:lvl3pPr marL="907725" algn="l" defTabSz="907725" rtl="0" eaLnBrk="1" latinLnBrk="0" hangingPunct="1">
        <a:defRPr sz="1787" kern="1200">
          <a:solidFill>
            <a:schemeClr val="tx1"/>
          </a:solidFill>
          <a:latin typeface="+mn-lt"/>
          <a:ea typeface="+mn-ea"/>
          <a:cs typeface="+mn-cs"/>
        </a:defRPr>
      </a:lvl3pPr>
      <a:lvl4pPr marL="1361587" algn="l" defTabSz="907725" rtl="0" eaLnBrk="1" latinLnBrk="0" hangingPunct="1">
        <a:defRPr sz="1787" kern="1200">
          <a:solidFill>
            <a:schemeClr val="tx1"/>
          </a:solidFill>
          <a:latin typeface="+mn-lt"/>
          <a:ea typeface="+mn-ea"/>
          <a:cs typeface="+mn-cs"/>
        </a:defRPr>
      </a:lvl4pPr>
      <a:lvl5pPr marL="1815450" algn="l" defTabSz="907725" rtl="0" eaLnBrk="1" latinLnBrk="0" hangingPunct="1">
        <a:defRPr sz="1787" kern="1200">
          <a:solidFill>
            <a:schemeClr val="tx1"/>
          </a:solidFill>
          <a:latin typeface="+mn-lt"/>
          <a:ea typeface="+mn-ea"/>
          <a:cs typeface="+mn-cs"/>
        </a:defRPr>
      </a:lvl5pPr>
      <a:lvl6pPr marL="2269312" algn="l" defTabSz="907725" rtl="0" eaLnBrk="1" latinLnBrk="0" hangingPunct="1">
        <a:defRPr sz="1787" kern="1200">
          <a:solidFill>
            <a:schemeClr val="tx1"/>
          </a:solidFill>
          <a:latin typeface="+mn-lt"/>
          <a:ea typeface="+mn-ea"/>
          <a:cs typeface="+mn-cs"/>
        </a:defRPr>
      </a:lvl6pPr>
      <a:lvl7pPr marL="2723175" algn="l" defTabSz="907725" rtl="0" eaLnBrk="1" latinLnBrk="0" hangingPunct="1">
        <a:defRPr sz="1787" kern="1200">
          <a:solidFill>
            <a:schemeClr val="tx1"/>
          </a:solidFill>
          <a:latin typeface="+mn-lt"/>
          <a:ea typeface="+mn-ea"/>
          <a:cs typeface="+mn-cs"/>
        </a:defRPr>
      </a:lvl7pPr>
      <a:lvl8pPr marL="3177037" algn="l" defTabSz="907725" rtl="0" eaLnBrk="1" latinLnBrk="0" hangingPunct="1">
        <a:defRPr sz="1787" kern="1200">
          <a:solidFill>
            <a:schemeClr val="tx1"/>
          </a:solidFill>
          <a:latin typeface="+mn-lt"/>
          <a:ea typeface="+mn-ea"/>
          <a:cs typeface="+mn-cs"/>
        </a:defRPr>
      </a:lvl8pPr>
      <a:lvl9pPr marL="3630900" algn="l" defTabSz="907725" rtl="0" eaLnBrk="1" latinLnBrk="0" hangingPunct="1">
        <a:defRPr sz="17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0" pos="3168">
          <p15:clr>
            <a:srgbClr val="A4A3A4"/>
          </p15:clr>
        </p15:guide>
        <p15:guide id="51" orient="horz" pos="2448">
          <p15:clr>
            <a:srgbClr val="A4A3A4"/>
          </p15:clr>
        </p15:guide>
        <p15:guide id="52" pos="240">
          <p15:clr>
            <a:srgbClr val="F26B43"/>
          </p15:clr>
        </p15:guide>
        <p15:guide id="53" pos="493">
          <p15:clr>
            <a:srgbClr val="F26B43"/>
          </p15:clr>
        </p15:guide>
        <p15:guide id="54" pos="613">
          <p15:clr>
            <a:srgbClr val="F26B43"/>
          </p15:clr>
        </p15:guide>
        <p15:guide id="55" pos="867">
          <p15:clr>
            <a:srgbClr val="F26B43"/>
          </p15:clr>
        </p15:guide>
        <p15:guide id="56" pos="987">
          <p15:clr>
            <a:srgbClr val="F26B43"/>
          </p15:clr>
        </p15:guide>
        <p15:guide id="57" pos="1224">
          <p15:clr>
            <a:srgbClr val="F26B43"/>
          </p15:clr>
        </p15:guide>
        <p15:guide id="58" pos="1361">
          <p15:clr>
            <a:srgbClr val="F26B43"/>
          </p15:clr>
        </p15:guide>
        <p15:guide id="59" pos="1614">
          <p15:clr>
            <a:srgbClr val="F26B43"/>
          </p15:clr>
        </p15:guide>
        <p15:guide id="60" pos="1728">
          <p15:clr>
            <a:srgbClr val="F26B43"/>
          </p15:clr>
        </p15:guide>
        <p15:guide id="61" pos="1987">
          <p15:clr>
            <a:srgbClr val="F26B43"/>
          </p15:clr>
        </p15:guide>
        <p15:guide id="62" pos="2107">
          <p15:clr>
            <a:srgbClr val="F26B43"/>
          </p15:clr>
        </p15:guide>
        <p15:guide id="63" pos="2361">
          <p15:clr>
            <a:srgbClr val="F26B43"/>
          </p15:clr>
        </p15:guide>
        <p15:guide id="64" pos="2481">
          <p15:clr>
            <a:srgbClr val="F26B43"/>
          </p15:clr>
        </p15:guide>
        <p15:guide id="65" pos="2735">
          <p15:clr>
            <a:srgbClr val="F26B43"/>
          </p15:clr>
        </p15:guide>
        <p15:guide id="66" pos="2855">
          <p15:clr>
            <a:srgbClr val="F26B43"/>
          </p15:clr>
        </p15:guide>
        <p15:guide id="67" pos="3108">
          <p15:clr>
            <a:srgbClr val="F26B43"/>
          </p15:clr>
        </p15:guide>
        <p15:guide id="68" pos="3228">
          <p15:clr>
            <a:srgbClr val="F26B43"/>
          </p15:clr>
        </p15:guide>
        <p15:guide id="69" pos="3481">
          <p15:clr>
            <a:srgbClr val="F26B43"/>
          </p15:clr>
        </p15:guide>
        <p15:guide id="70" pos="3601">
          <p15:clr>
            <a:srgbClr val="F26B43"/>
          </p15:clr>
        </p15:guide>
        <p15:guide id="71" pos="3864">
          <p15:clr>
            <a:srgbClr val="F26B43"/>
          </p15:clr>
        </p15:guide>
        <p15:guide id="72" pos="3975">
          <p15:clr>
            <a:srgbClr val="F26B43"/>
          </p15:clr>
        </p15:guide>
        <p15:guide id="73" pos="4229">
          <p15:clr>
            <a:srgbClr val="F26B43"/>
          </p15:clr>
        </p15:guide>
        <p15:guide id="74" pos="4349">
          <p15:clr>
            <a:srgbClr val="F26B43"/>
          </p15:clr>
        </p15:guide>
        <p15:guide id="75" pos="4602">
          <p15:clr>
            <a:srgbClr val="F26B43"/>
          </p15:clr>
        </p15:guide>
        <p15:guide id="76" pos="4722">
          <p15:clr>
            <a:srgbClr val="F26B43"/>
          </p15:clr>
        </p15:guide>
        <p15:guide id="77" pos="4975">
          <p15:clr>
            <a:srgbClr val="F26B43"/>
          </p15:clr>
        </p15:guide>
        <p15:guide id="78" pos="5095">
          <p15:clr>
            <a:srgbClr val="F26B43"/>
          </p15:clr>
        </p15:guide>
        <p15:guide id="79" pos="5349">
          <p15:clr>
            <a:srgbClr val="F26B43"/>
          </p15:clr>
        </p15:guide>
        <p15:guide id="80" pos="5469">
          <p15:clr>
            <a:srgbClr val="F26B43"/>
          </p15:clr>
        </p15:guide>
        <p15:guide id="81" pos="5723">
          <p15:clr>
            <a:srgbClr val="F26B43"/>
          </p15:clr>
        </p15:guide>
        <p15:guide id="82" pos="5843">
          <p15:clr>
            <a:srgbClr val="F26B43"/>
          </p15:clr>
        </p15:guide>
        <p15:guide id="83" pos="6096">
          <p15:clr>
            <a:srgbClr val="F26B43"/>
          </p15:clr>
        </p15:guide>
        <p15:guide id="84" orient="horz" pos="240">
          <p15:clr>
            <a:srgbClr val="F26B43"/>
          </p15:clr>
        </p15:guide>
        <p15:guide id="85" orient="horz" pos="687">
          <p15:clr>
            <a:srgbClr val="F26B43"/>
          </p15:clr>
        </p15:guide>
        <p15:guide id="86" orient="horz" pos="807">
          <p15:clr>
            <a:srgbClr val="F26B43"/>
          </p15:clr>
        </p15:guide>
        <p15:guide id="87" orient="horz" pos="1254">
          <p15:clr>
            <a:srgbClr val="F26B43"/>
          </p15:clr>
        </p15:guide>
        <p15:guide id="88" orient="horz" pos="1374">
          <p15:clr>
            <a:srgbClr val="F26B43"/>
          </p15:clr>
        </p15:guide>
        <p15:guide id="89" orient="horz" pos="1821">
          <p15:clr>
            <a:srgbClr val="F26B43"/>
          </p15:clr>
        </p15:guide>
        <p15:guide id="90" orient="horz" pos="1941">
          <p15:clr>
            <a:srgbClr val="F26B43"/>
          </p15:clr>
        </p15:guide>
        <p15:guide id="91" orient="horz" pos="2388">
          <p15:clr>
            <a:srgbClr val="F26B43"/>
          </p15:clr>
        </p15:guide>
        <p15:guide id="92" orient="horz" pos="2508">
          <p15:clr>
            <a:srgbClr val="F26B43"/>
          </p15:clr>
        </p15:guide>
        <p15:guide id="93" orient="horz" pos="2955">
          <p15:clr>
            <a:srgbClr val="F26B43"/>
          </p15:clr>
        </p15:guide>
        <p15:guide id="94" orient="horz" pos="3075">
          <p15:clr>
            <a:srgbClr val="F26B43"/>
          </p15:clr>
        </p15:guide>
        <p15:guide id="95" orient="horz" pos="3522">
          <p15:clr>
            <a:srgbClr val="F26B43"/>
          </p15:clr>
        </p15:guide>
        <p15:guide id="96" orient="horz" pos="3642">
          <p15:clr>
            <a:srgbClr val="F26B43"/>
          </p15:clr>
        </p15:guide>
        <p15:guide id="97" orient="horz" pos="4089">
          <p15:clr>
            <a:srgbClr val="F26B43"/>
          </p15:clr>
        </p15:guide>
        <p15:guide id="98" orient="horz" pos="4209">
          <p15:clr>
            <a:srgbClr val="F26B43"/>
          </p15:clr>
        </p15:guide>
        <p15:guide id="99" orient="horz" pos="465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DCDB3F9-C083-E428-E97B-C0CC63BC0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577948" y="230006"/>
            <a:ext cx="844062" cy="384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291CE83-67BA-4B15-B48A-7DC5C0636664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9313725" y="3338288"/>
            <a:ext cx="5372505" cy="384047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679259" y="6345258"/>
            <a:ext cx="641433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90" y="2220977"/>
            <a:ext cx="10953964" cy="3955986"/>
          </a:xfrm>
          <a:prstGeom prst="rect">
            <a:avLst/>
          </a:prstGeom>
        </p:spPr>
        <p:txBody>
          <a:bodyPr vert="horz" lIns="9144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58" y="640080"/>
            <a:ext cx="10953964" cy="1095059"/>
          </a:xfrm>
          <a:prstGeom prst="rect">
            <a:avLst/>
          </a:prstGeom>
        </p:spPr>
        <p:txBody>
          <a:bodyPr vert="horz" lIns="91440" tIns="9144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2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  <p:sldLayoutId id="2147484096" r:id="rId13"/>
    <p:sldLayoutId id="2147484097" r:id="rId14"/>
    <p:sldLayoutId id="2147484098" r:id="rId15"/>
    <p:sldLayoutId id="2147484099" r:id="rId16"/>
    <p:sldLayoutId id="2147484100" r:id="rId17"/>
    <p:sldLayoutId id="2147484101" r:id="rId18"/>
    <p:sldLayoutId id="2147484102" r:id="rId19"/>
    <p:sldLayoutId id="2147484103" r:id="rId20"/>
    <p:sldLayoutId id="2147484104" r:id="rId21"/>
    <p:sldLayoutId id="2147484105" r:id="rId22"/>
    <p:sldLayoutId id="2147484106" r:id="rId23"/>
    <p:sldLayoutId id="2147484107" r:id="rId24"/>
    <p:sldLayoutId id="2147484108" r:id="rId25"/>
    <p:sldLayoutId id="2147484109" r:id="rId26"/>
    <p:sldLayoutId id="2147484110" r:id="rId27"/>
    <p:sldLayoutId id="2147484111" r:id="rId28"/>
    <p:sldLayoutId id="2147484112" r:id="rId29"/>
    <p:sldLayoutId id="2147484113" r:id="rId30"/>
    <p:sldLayoutId id="2147484114" r:id="rId31"/>
    <p:sldLayoutId id="2147484115" r:id="rId32"/>
    <p:sldLayoutId id="2147484116" r:id="rId33"/>
    <p:sldLayoutId id="2147484117" r:id="rId34"/>
    <p:sldLayoutId id="2147484118" r:id="rId35"/>
    <p:sldLayoutId id="2147484119" r:id="rId36"/>
    <p:sldLayoutId id="2147484120" r:id="rId37"/>
    <p:sldLayoutId id="2147484121" r:id="rId38"/>
    <p:sldLayoutId id="2147484122" r:id="rId39"/>
    <p:sldLayoutId id="2147484123" r:id="rId40"/>
    <p:sldLayoutId id="2147484124" r:id="rId41"/>
    <p:sldLayoutId id="2147484125" r:id="rId42"/>
    <p:sldLayoutId id="2147484126" r:id="rId43"/>
    <p:sldLayoutId id="2147484127" r:id="rId44"/>
    <p:sldLayoutId id="2147484128" r:id="rId45"/>
    <p:sldLayoutId id="2147484129" r:id="rId46"/>
    <p:sldLayoutId id="2147484130" r:id="rId47"/>
    <p:sldLayoutId id="2147484131" r:id="rId48"/>
    <p:sldLayoutId id="2147484132" r:id="rId49"/>
    <p:sldLayoutId id="2147484133" r:id="rId50"/>
    <p:sldLayoutId id="2147484134" r:id="rId51"/>
    <p:sldLayoutId id="2147484135" r:id="rId52"/>
    <p:sldLayoutId id="2147484136" r:id="rId53"/>
    <p:sldLayoutId id="2147484137" r:id="rId54"/>
    <p:sldLayoutId id="2147484138" r:id="rId55"/>
    <p:sldLayoutId id="2147484139" r:id="rId56"/>
    <p:sldLayoutId id="2147484140" r:id="rId5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orient="horz" pos="2160">
          <p15:clr>
            <a:srgbClr val="A4A3A4"/>
          </p15:clr>
        </p15:guide>
        <p15:guide id="27" orient="horz" pos="1152">
          <p15:clr>
            <a:srgbClr val="547EBF"/>
          </p15:clr>
        </p15:guide>
        <p15:guide id="28" pos="7440">
          <p15:clr>
            <a:srgbClr val="547EBF"/>
          </p15:clr>
        </p15:guide>
        <p15:guide id="29" orient="horz" pos="4080">
          <p15:clr>
            <a:srgbClr val="547EBF"/>
          </p15:clr>
        </p15:guide>
        <p15:guide id="30">
          <p15:clr>
            <a:srgbClr val="547EBF"/>
          </p15:clr>
        </p15:guide>
        <p15:guide id="31" pos="7680">
          <p15:clr>
            <a:srgbClr val="547EBF"/>
          </p15:clr>
        </p15:guide>
        <p15:guide id="32" pos="528">
          <p15:clr>
            <a:srgbClr val="547EBF"/>
          </p15:clr>
        </p15:guide>
        <p15:guide id="33" pos="6912">
          <p15:clr>
            <a:srgbClr val="547EBF"/>
          </p15:clr>
        </p15:guide>
        <p15:guide id="34" orient="horz" pos="240">
          <p15:clr>
            <a:srgbClr val="547EBF"/>
          </p15:clr>
        </p15:guide>
        <p15:guide id="35" orient="horz" pos="552">
          <p15:clr>
            <a:srgbClr val="547EBF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1140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06" r:id="rId1"/>
    <p:sldLayoutId id="2147484207" r:id="rId2"/>
    <p:sldLayoutId id="2147484208" r:id="rId3"/>
    <p:sldLayoutId id="2147484209" r:id="rId4"/>
    <p:sldLayoutId id="2147484210" r:id="rId5"/>
    <p:sldLayoutId id="2147484211" r:id="rId6"/>
    <p:sldLayoutId id="2147484212" r:id="rId7"/>
    <p:sldLayoutId id="2147484213" r:id="rId8"/>
    <p:sldLayoutId id="2147484214" r:id="rId9"/>
    <p:sldLayoutId id="2147484215" r:id="rId10"/>
    <p:sldLayoutId id="2147484216" r:id="rId11"/>
    <p:sldLayoutId id="2147484217" r:id="rId12"/>
    <p:sldLayoutId id="2147484218" r:id="rId13"/>
    <p:sldLayoutId id="2147484219" r:id="rId14"/>
    <p:sldLayoutId id="2147484220" r:id="rId15"/>
    <p:sldLayoutId id="2147484221" r:id="rId16"/>
    <p:sldLayoutId id="21474842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6.svg"/><Relationship Id="rId7" Type="http://schemas.openxmlformats.org/officeDocument/2006/relationships/package" Target="../embeddings/Microsoft_Excel_Worksheet2.xlsx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7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47.emf"/><Relationship Id="rId4" Type="http://schemas.openxmlformats.org/officeDocument/2006/relationships/image" Target="../media/image4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7.xlsx"/><Relationship Id="rId3" Type="http://schemas.openxmlformats.org/officeDocument/2006/relationships/image" Target="../media/image51.emf"/><Relationship Id="rId7" Type="http://schemas.openxmlformats.org/officeDocument/2006/relationships/image" Target="../media/image54.png"/><Relationship Id="rId12" Type="http://schemas.openxmlformats.org/officeDocument/2006/relationships/image" Target="../media/image58.svg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53.emf"/><Relationship Id="rId11" Type="http://schemas.openxmlformats.org/officeDocument/2006/relationships/image" Target="../media/image57.png"/><Relationship Id="rId5" Type="http://schemas.openxmlformats.org/officeDocument/2006/relationships/package" Target="../embeddings/Microsoft_Excel_Worksheet6.xlsx"/><Relationship Id="rId10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55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570A-6D71-BE5B-C58F-FEB69ADB1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289" y="2015030"/>
            <a:ext cx="8501905" cy="1413969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IN" sz="88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Panic Attack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53CA6-7B97-2F09-FB32-6E460C11B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5" y="3847299"/>
            <a:ext cx="7296335" cy="156757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bg1"/>
              </a:buClr>
              <a:buSzPct val="100000"/>
            </a:pPr>
            <a:r>
              <a:rPr lang="en-US" sz="1100" b="1" dirty="0">
                <a:solidFill>
                  <a:schemeClr val="tx1"/>
                </a:solidFill>
                <a:latin typeface="Bahnschrift SemiBold" panose="020B0502040204020203" pitchFamily="34" charset="0"/>
              </a:rPr>
              <a:t>Panic attacks are sudden, intense feelings of fear that cause physical symptoms like a racing heart, fast breathing and sweating.</a:t>
            </a:r>
          </a:p>
          <a:p>
            <a:pPr algn="just">
              <a:lnSpc>
                <a:spcPct val="150000"/>
              </a:lnSpc>
              <a:buClr>
                <a:schemeClr val="bg1"/>
              </a:buClr>
              <a:buSzPct val="100000"/>
            </a:pPr>
            <a:r>
              <a:rPr lang="en-US" sz="1100" b="1" dirty="0">
                <a:solidFill>
                  <a:schemeClr val="tx1"/>
                </a:solidFill>
              </a:rPr>
              <a:t>Some </a:t>
            </a:r>
            <a:r>
              <a:rPr lang="en-US" sz="1100" b="1" dirty="0">
                <a:solidFill>
                  <a:schemeClr val="tx1"/>
                </a:solidFill>
                <a:latin typeface="Bahnschrift SemiBold" panose="020B0502040204020203" pitchFamily="34" charset="0"/>
              </a:rPr>
              <a:t>people</a:t>
            </a:r>
            <a:r>
              <a:rPr lang="en-US" sz="1100" b="1" dirty="0">
                <a:solidFill>
                  <a:schemeClr val="tx1"/>
                </a:solidFill>
              </a:rPr>
              <a:t> who experience panic attacks develop panic disorder, a type of anxiety disorder. </a:t>
            </a:r>
          </a:p>
          <a:p>
            <a:pPr algn="just">
              <a:lnSpc>
                <a:spcPct val="150000"/>
              </a:lnSpc>
              <a:buClr>
                <a:schemeClr val="bg1"/>
              </a:buClr>
              <a:buSzPct val="100000"/>
            </a:pPr>
            <a:r>
              <a:rPr lang="en-US" sz="1100" b="1" dirty="0">
                <a:solidFill>
                  <a:schemeClr val="tx1"/>
                </a:solidFill>
              </a:rPr>
              <a:t>Therapy and medications can treat panic attacks and panic disorder.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097D94-EC6D-8DFA-A786-E1BC49172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348" y="1308046"/>
            <a:ext cx="2120952" cy="1413969"/>
          </a:xfrm>
          <a:prstGeom prst="roundRect">
            <a:avLst>
              <a:gd name="adj" fmla="val 1916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0ABBC0C-C7F1-FFB9-A93E-9D3BAAC07DE8}"/>
              </a:ext>
            </a:extLst>
          </p:cNvPr>
          <p:cNvSpPr txBox="1">
            <a:spLocks/>
          </p:cNvSpPr>
          <p:nvPr/>
        </p:nvSpPr>
        <p:spPr>
          <a:xfrm>
            <a:off x="8631937" y="2855917"/>
            <a:ext cx="3195774" cy="36120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b="1" cap="none" spc="50" dirty="0">
                <a:ln w="0">
                  <a:noFill/>
                </a:ln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&amp; Panic Disorder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546563-EB1B-7AEC-C3F4-D06B8DE28A37}"/>
              </a:ext>
            </a:extLst>
          </p:cNvPr>
          <p:cNvSpPr txBox="1">
            <a:spLocks/>
          </p:cNvSpPr>
          <p:nvPr/>
        </p:nvSpPr>
        <p:spPr>
          <a:xfrm>
            <a:off x="630935" y="3181112"/>
            <a:ext cx="6354502" cy="55567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IN" sz="2800" b="1" cap="none" spc="50" dirty="0">
                <a:ln w="0">
                  <a:noFill/>
                </a:ln>
                <a:solidFill>
                  <a:srgbClr val="FFFF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gency FB" panose="020B0503020202020204" pitchFamily="34" charset="0"/>
              </a:rPr>
              <a:t>Data Analysis ( Overview &amp; Insights 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C757E4-4F4B-BF26-7A43-713E34B1F30A}"/>
              </a:ext>
            </a:extLst>
          </p:cNvPr>
          <p:cNvCxnSpPr>
            <a:cxnSpLocks/>
          </p:cNvCxnSpPr>
          <p:nvPr/>
        </p:nvCxnSpPr>
        <p:spPr>
          <a:xfrm>
            <a:off x="722375" y="3787399"/>
            <a:ext cx="75895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4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5A8D4B-4526-B6F0-E347-F9869B8F7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918" y="3109351"/>
            <a:ext cx="3834155" cy="2732792"/>
          </a:xfrm>
          <a:prstGeom prst="rect">
            <a:avLst/>
          </a:prstGeom>
          <a:ln w="349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4039B8-9A3A-05A8-8837-D22BC710F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5" y="1627122"/>
            <a:ext cx="4724867" cy="284862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923549-C4A4-8814-F332-A724AB73C113}"/>
              </a:ext>
            </a:extLst>
          </p:cNvPr>
          <p:cNvSpPr txBox="1"/>
          <p:nvPr/>
        </p:nvSpPr>
        <p:spPr>
          <a:xfrm>
            <a:off x="5600500" y="5917566"/>
            <a:ext cx="5183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IN" sz="1600" dirty="0">
                <a:latin typeface="Bahnschrift SemiBold" panose="020B0502040204020203" pitchFamily="34" charset="0"/>
              </a:rPr>
              <a:t>In this given 1200 records of </a:t>
            </a:r>
            <a:r>
              <a:rPr lang="en-IN" sz="16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Panic Attack </a:t>
            </a:r>
            <a:r>
              <a:rPr lang="en-IN" sz="1600" dirty="0">
                <a:latin typeface="Bahnschrift SemiBold" panose="020B0502040204020203" pitchFamily="34" charset="0"/>
              </a:rPr>
              <a:t>data set.   With in the female`s are lead on the top in </a:t>
            </a:r>
            <a:r>
              <a:rPr lang="en-IN" sz="16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Gender Column </a:t>
            </a:r>
            <a:r>
              <a:rPr lang="en-IN" sz="1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.</a:t>
            </a:r>
            <a:r>
              <a:rPr lang="en-IN" sz="1600" dirty="0">
                <a:latin typeface="Bahnschrift SemiBold" panose="020B0502040204020203" pitchFamily="34" charset="0"/>
              </a:rPr>
              <a:t>Which is </a:t>
            </a:r>
            <a:r>
              <a:rPr lang="en-IN" sz="16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549 ( 46 % 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17C77-1F6E-1CE0-4EB8-D1B649EE80AD}"/>
              </a:ext>
            </a:extLst>
          </p:cNvPr>
          <p:cNvSpPr txBox="1"/>
          <p:nvPr/>
        </p:nvSpPr>
        <p:spPr>
          <a:xfrm>
            <a:off x="331252" y="4742952"/>
            <a:ext cx="5403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dirty="0">
                <a:latin typeface="Bahnschrift SemiBold" panose="020B0502040204020203" pitchFamily="34" charset="0"/>
              </a:rPr>
              <a:t>In this given 1200 records of </a:t>
            </a:r>
            <a:r>
              <a:rPr lang="en-IN" sz="16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Panic Attack </a:t>
            </a:r>
            <a:r>
              <a:rPr lang="en-IN" sz="1600" dirty="0">
                <a:latin typeface="Bahnschrift SemiBold" panose="020B0502040204020203" pitchFamily="34" charset="0"/>
              </a:rPr>
              <a:t>data set. With in the </a:t>
            </a:r>
            <a:r>
              <a:rPr lang="en-IN" sz="16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Middle</a:t>
            </a:r>
            <a:r>
              <a:rPr lang="en-IN" sz="1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IN" sz="16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Aged Peoples </a:t>
            </a:r>
            <a:r>
              <a:rPr lang="en-IN" sz="1600" dirty="0">
                <a:latin typeface="Bahnschrift SemiBold" panose="020B0502040204020203" pitchFamily="34" charset="0"/>
              </a:rPr>
              <a:t>are lead on the top in</a:t>
            </a:r>
            <a:r>
              <a:rPr lang="en-IN" sz="1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IN" sz="16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Age Category Column </a:t>
            </a:r>
            <a:r>
              <a:rPr lang="en-IN" sz="1600" dirty="0">
                <a:latin typeface="Bahnschrift SemiBold" panose="020B0502040204020203" pitchFamily="34" charset="0"/>
              </a:rPr>
              <a:t>Which is </a:t>
            </a:r>
            <a:r>
              <a:rPr lang="en-IN" sz="16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767 ( 64 % 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5A0877-196A-DBBA-A3EF-FE85F969D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53" y="476528"/>
            <a:ext cx="3834154" cy="2301189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D4418B1-1C78-6D7B-2230-ABCE8B6A8C42}"/>
              </a:ext>
            </a:extLst>
          </p:cNvPr>
          <p:cNvSpPr/>
          <p:nvPr/>
        </p:nvSpPr>
        <p:spPr>
          <a:xfrm>
            <a:off x="5734724" y="499522"/>
            <a:ext cx="1519354" cy="2218278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0C7577B-F76A-B6DF-3577-CDC16B564A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049559"/>
              </p:ext>
            </p:extLst>
          </p:nvPr>
        </p:nvGraphicFramePr>
        <p:xfrm>
          <a:off x="5765324" y="531360"/>
          <a:ext cx="1456435" cy="2141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978331" imgH="3384415" progId="Excel.Sheet.12">
                  <p:embed/>
                </p:oleObj>
              </mc:Choice>
              <mc:Fallback>
                <p:oleObj name="Worksheet" r:id="rId5" imgW="2978331" imgH="3384415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70065D5-08C9-6512-92C2-EE32B2474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65324" y="531360"/>
                        <a:ext cx="1456435" cy="2141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 descr="Transfer with solid fill">
            <a:extLst>
              <a:ext uri="{FF2B5EF4-FFF2-40B4-BE49-F238E27FC236}">
                <a16:creationId xmlns:a16="http://schemas.microsoft.com/office/drawing/2014/main" id="{9D075D4F-B35C-486F-DFA0-D201DF3970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3025" y="1472632"/>
            <a:ext cx="308980" cy="308980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476AC249-AB6E-63ED-58B2-BC9BA4FC26DE}"/>
              </a:ext>
            </a:extLst>
          </p:cNvPr>
          <p:cNvSpPr txBox="1">
            <a:spLocks/>
          </p:cNvSpPr>
          <p:nvPr/>
        </p:nvSpPr>
        <p:spPr>
          <a:xfrm>
            <a:off x="1277243" y="358956"/>
            <a:ext cx="3233805" cy="924549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numCol="1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 cap="none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IN" sz="1800" b="1" spc="50" dirty="0">
                <a:ln w="0">
                  <a:noFill/>
                </a:ln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Gender &amp; Age Group Distribution</a:t>
            </a:r>
          </a:p>
        </p:txBody>
      </p:sp>
    </p:spTree>
    <p:extLst>
      <p:ext uri="{BB962C8B-B14F-4D97-AF65-F5344CB8AC3E}">
        <p14:creationId xmlns:p14="http://schemas.microsoft.com/office/powerpoint/2010/main" val="3571622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13B6B62B-D7B9-BCD5-82E0-8C3551172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0418" y="473182"/>
            <a:ext cx="2011680" cy="861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3C2486-FA54-8E8C-B6B9-CA8272C4AC38}"/>
                  </a:ext>
                </a:extLst>
              </p:cNvPr>
              <p:cNvSpPr txBox="1"/>
              <p:nvPr/>
            </p:nvSpPr>
            <p:spPr>
              <a:xfrm rot="5400000">
                <a:off x="8222028" y="1331350"/>
                <a:ext cx="302808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IN" sz="4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3C2486-FA54-8E8C-B6B9-CA8272C4A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222028" y="1331350"/>
                <a:ext cx="302808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BCEDC99-2ECE-C973-4D0F-D669CC200C58}"/>
              </a:ext>
            </a:extLst>
          </p:cNvPr>
          <p:cNvSpPr txBox="1"/>
          <p:nvPr/>
        </p:nvSpPr>
        <p:spPr>
          <a:xfrm>
            <a:off x="7419873" y="4706034"/>
            <a:ext cx="42015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+mj-lt"/>
              <a:buAutoNum type="arabicPeriod"/>
            </a:pPr>
            <a:r>
              <a:rPr lang="en-IN" sz="11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Male</a:t>
            </a:r>
            <a:r>
              <a:rPr lang="en-IN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IN" sz="1100" dirty="0">
                <a:latin typeface="Arial Rounded MT Bold" panose="020F0704030504030204" pitchFamily="34" charset="0"/>
              </a:rPr>
              <a:t>participants represent the largest group with </a:t>
            </a:r>
            <a:r>
              <a:rPr lang="en-IN" sz="11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46</a:t>
            </a:r>
            <a:r>
              <a:rPr lang="en-IN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IN" sz="1100" dirty="0">
                <a:latin typeface="Arial Rounded MT Bold" panose="020F0704030504030204" pitchFamily="34" charset="0"/>
              </a:rPr>
              <a:t>individuals.</a:t>
            </a:r>
          </a:p>
          <a:p>
            <a:pPr marL="285750" indent="-285750">
              <a:buFont typeface="+mj-lt"/>
              <a:buAutoNum type="arabicPeriod"/>
            </a:pPr>
            <a:endParaRPr lang="en-IN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+mj-lt"/>
              <a:buAutoNum type="arabicPeriod"/>
            </a:pPr>
            <a:r>
              <a:rPr lang="en-IN" sz="1100" dirty="0">
                <a:latin typeface="Arial Rounded MT Bold" panose="020F0704030504030204" pitchFamily="34" charset="0"/>
              </a:rPr>
              <a:t>These observations point to a diverse sample in terms of </a:t>
            </a:r>
            <a:r>
              <a:rPr lang="en-IN" sz="11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Gender &amp; Age </a:t>
            </a:r>
            <a:r>
              <a:rPr lang="en-IN" sz="1100" dirty="0">
                <a:latin typeface="Arial Rounded MT Bold" panose="020F0704030504030204" pitchFamily="34" charset="0"/>
              </a:rPr>
              <a:t>, with relatively similar average panic attack durations across groups except for some variances among subcategories</a:t>
            </a:r>
            <a:r>
              <a:rPr lang="en-IN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285750" indent="-285750">
              <a:buFont typeface="+mj-lt"/>
              <a:buAutoNum type="arabicPeriod"/>
            </a:pPr>
            <a:endParaRPr lang="en-IN" sz="11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+mj-lt"/>
              <a:buAutoNum type="arabicPeriod"/>
            </a:pPr>
            <a:r>
              <a:rPr lang="en-IN" sz="1100" dirty="0">
                <a:latin typeface="Arial Rounded MT Bold" panose="020F0704030504030204" pitchFamily="34" charset="0"/>
              </a:rPr>
              <a:t>The total count of all genders </a:t>
            </a:r>
            <a:r>
              <a:rPr lang="en-IN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is </a:t>
            </a:r>
            <a:r>
              <a:rPr lang="en-IN" sz="11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99</a:t>
            </a:r>
            <a:r>
              <a:rPr lang="en-IN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</a:t>
            </a:r>
            <a:r>
              <a:rPr lang="en-IN" sz="1100" dirty="0">
                <a:latin typeface="Arial Rounded MT Bold" panose="020F0704030504030204" pitchFamily="34" charset="0"/>
              </a:rPr>
              <a:t>The overall average duration  of panic attacks in </a:t>
            </a:r>
            <a:r>
              <a:rPr lang="en-IN" sz="11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24 minutes</a:t>
            </a:r>
            <a:r>
              <a:rPr lang="en-IN" sz="11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67B7AF-2663-05E4-8384-12A395F0C21A}"/>
              </a:ext>
            </a:extLst>
          </p:cNvPr>
          <p:cNvSpPr txBox="1"/>
          <p:nvPr/>
        </p:nvSpPr>
        <p:spPr>
          <a:xfrm>
            <a:off x="474610" y="5413920"/>
            <a:ext cx="6387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ahnschrift" panose="020B0502040204020203" pitchFamily="34" charset="0"/>
              </a:rPr>
              <a:t>These trends indicate that </a:t>
            </a:r>
            <a:r>
              <a:rPr lang="en-IN" sz="1600" dirty="0">
                <a:solidFill>
                  <a:srgbClr val="FFFF00"/>
                </a:solidFill>
                <a:latin typeface="Bahnschrift" panose="020B0502040204020203" pitchFamily="34" charset="0"/>
              </a:rPr>
              <a:t>Middle Aged - Adults </a:t>
            </a:r>
            <a:r>
              <a:rPr lang="en-IN" sz="1600" dirty="0">
                <a:latin typeface="Bahnschrift" panose="020B0502040204020203" pitchFamily="34" charset="0"/>
              </a:rPr>
              <a:t>are the most affected demographic for panic attacks in this sample and average duration is less than half a minute across all groups.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AEE0F6F-37CE-0C64-3DD8-1637478303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229266"/>
              </p:ext>
            </p:extLst>
          </p:nvPr>
        </p:nvGraphicFramePr>
        <p:xfrm>
          <a:off x="7602365" y="1759358"/>
          <a:ext cx="4019013" cy="2766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0325125" imgH="7156315" progId="Excel.Sheet.12">
                  <p:embed/>
                </p:oleObj>
              </mc:Choice>
              <mc:Fallback>
                <p:oleObj name="Worksheet" r:id="rId5" imgW="10325125" imgH="71563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02365" y="1759358"/>
                        <a:ext cx="4019013" cy="27666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845783B0-9947-C49E-E511-63612064C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635755"/>
              </p:ext>
            </p:extLst>
          </p:nvPr>
        </p:nvGraphicFramePr>
        <p:xfrm>
          <a:off x="570622" y="1259407"/>
          <a:ext cx="6031346" cy="400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7962875" imgH="4540385" progId="Excel.Sheet.12">
                  <p:embed/>
                </p:oleObj>
              </mc:Choice>
              <mc:Fallback>
                <p:oleObj name="Worksheet" r:id="rId7" imgW="7962875" imgH="45403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0622" y="1259407"/>
                        <a:ext cx="6031346" cy="40073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06E335D-C356-6896-2979-DFDC26750C51}"/>
              </a:ext>
            </a:extLst>
          </p:cNvPr>
          <p:cNvSpPr txBox="1"/>
          <p:nvPr/>
        </p:nvSpPr>
        <p:spPr>
          <a:xfrm>
            <a:off x="7602365" y="719039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Slicer &gt;&gt;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3A9A7F4-442B-7799-153C-3C582ADF170E}"/>
              </a:ext>
            </a:extLst>
          </p:cNvPr>
          <p:cNvSpPr txBox="1">
            <a:spLocks/>
          </p:cNvSpPr>
          <p:nvPr/>
        </p:nvSpPr>
        <p:spPr>
          <a:xfrm>
            <a:off x="1961702" y="473182"/>
            <a:ext cx="3442402" cy="615189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numCol="1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 cap="none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b="1" spc="50" dirty="0">
                <a:ln w="0">
                  <a:noFill/>
                </a:ln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Panic Attack Frequency &amp; With Duration</a:t>
            </a:r>
          </a:p>
        </p:txBody>
      </p:sp>
    </p:spTree>
    <p:extLst>
      <p:ext uri="{BB962C8B-B14F-4D97-AF65-F5344CB8AC3E}">
        <p14:creationId xmlns:p14="http://schemas.microsoft.com/office/powerpoint/2010/main" val="834757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2CC7DB3-2248-D6E5-A4A3-14FDD82C6EA6}"/>
              </a:ext>
            </a:extLst>
          </p:cNvPr>
          <p:cNvSpPr txBox="1">
            <a:spLocks/>
          </p:cNvSpPr>
          <p:nvPr/>
        </p:nvSpPr>
        <p:spPr>
          <a:xfrm>
            <a:off x="4629051" y="593665"/>
            <a:ext cx="7258595" cy="728644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numCol="1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 cap="none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200" b="1" spc="50" dirty="0">
                <a:ln w="0">
                  <a:noFill/>
                </a:ln>
                <a:solidFill>
                  <a:srgbClr val="FFFF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Panic Attacks (Trigger) Distribution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473CBECB-E191-132B-E24C-D12F287D5A73}"/>
              </a:ext>
            </a:extLst>
          </p:cNvPr>
          <p:cNvSpPr txBox="1">
            <a:spLocks/>
          </p:cNvSpPr>
          <p:nvPr/>
        </p:nvSpPr>
        <p:spPr>
          <a:xfrm>
            <a:off x="6648351" y="406463"/>
            <a:ext cx="3219994" cy="374404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numCol="1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 cap="none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200" b="1" spc="50" dirty="0">
                <a:ln w="0">
                  <a:noFill/>
                </a:ln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Gender &amp; Age Category Wise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3BA810-EB4F-FF5B-C3FB-63B3D499D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93" y="406463"/>
            <a:ext cx="4021258" cy="286014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1467F9-36EF-B001-8824-82DBEF4AE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93" y="3566677"/>
            <a:ext cx="4021258" cy="299773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D213B7-91C6-762F-CED2-46D949B73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85225"/>
            <a:ext cx="4215384" cy="263871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01AB6D-0F78-B127-088F-6C446818C6C0}"/>
              </a:ext>
            </a:extLst>
          </p:cNvPr>
          <p:cNvSpPr txBox="1"/>
          <p:nvPr/>
        </p:nvSpPr>
        <p:spPr>
          <a:xfrm>
            <a:off x="5582093" y="4286860"/>
            <a:ext cx="535251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In this above count plot , most people have </a:t>
            </a:r>
            <a:r>
              <a:rPr lang="en-IN" sz="1600" b="1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PTSD - </a:t>
            </a: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Post-Traumatic</a:t>
            </a:r>
            <a:r>
              <a:rPr lang="en-IN" sz="1400" dirty="0">
                <a:solidFill>
                  <a:schemeClr val="bg1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 </a:t>
            </a: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Stress Disorder  </a:t>
            </a:r>
            <a:r>
              <a:rPr lang="en-IN" sz="1400" b="1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411 patients </a:t>
            </a:r>
            <a:r>
              <a:rPr lang="en-IN" sz="1400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, ( </a:t>
            </a:r>
            <a:r>
              <a:rPr lang="en-IN" sz="1400" b="1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34 %</a:t>
            </a:r>
            <a:r>
              <a:rPr lang="en-IN" sz="1400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 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ea typeface="Microsoft JhengHei UI Light" panose="020B03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In this second bar plot  , most of GENDERS </a:t>
            </a:r>
            <a:r>
              <a:rPr lang="en-IN" sz="1400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“ Male’s - 537 patients </a:t>
            </a: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 &amp; </a:t>
            </a:r>
            <a:r>
              <a:rPr lang="en-IN" sz="1400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Female’s – 549 patients  ,, </a:t>
            </a: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have some disease’s also mental health</a:t>
            </a:r>
            <a:r>
              <a:rPr lang="en-IN" sz="1400" dirty="0">
                <a:solidFill>
                  <a:schemeClr val="bg1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 </a:t>
            </a: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problems.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1400" dirty="0">
              <a:solidFill>
                <a:schemeClr val="bg1"/>
              </a:solidFill>
              <a:latin typeface="Bahnschrift SemiBold SemiConden" panose="020B0502040204020203" pitchFamily="34" charset="0"/>
              <a:ea typeface="Microsoft JhengHei UI Light" panose="020B03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In this third  bar plot ( </a:t>
            </a:r>
            <a:r>
              <a:rPr lang="en-IN" sz="1400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Slide 10 </a:t>
            </a: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) ,most of AGE GROUPS </a:t>
            </a:r>
            <a:r>
              <a:rPr lang="en-IN" sz="1400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Middle Aged ( 34-60 ) , </a:t>
            </a: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767 patients have some disease’s also mental health problems. In the least of </a:t>
            </a:r>
            <a:r>
              <a:rPr lang="en-IN" sz="1400" dirty="0">
                <a:solidFill>
                  <a:srgbClr val="FFFF00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Teenager’s ( 13-19 )</a:t>
            </a:r>
            <a:r>
              <a:rPr lang="en-IN" sz="1400" dirty="0">
                <a:solidFill>
                  <a:schemeClr val="bg1"/>
                </a:solidFill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, </a:t>
            </a:r>
            <a:r>
              <a:rPr lang="en-IN" sz="1400" dirty="0">
                <a:latin typeface="Bahnschrift SemiBold SemiConden" panose="020B0502040204020203" pitchFamily="34" charset="0"/>
                <a:ea typeface="Microsoft JhengHei UI Light" panose="020B0304030504040204" pitchFamily="34" charset="-120"/>
              </a:rPr>
              <a:t>58 patients are there.</a:t>
            </a:r>
          </a:p>
        </p:txBody>
      </p:sp>
    </p:spTree>
    <p:extLst>
      <p:ext uri="{BB962C8B-B14F-4D97-AF65-F5344CB8AC3E}">
        <p14:creationId xmlns:p14="http://schemas.microsoft.com/office/powerpoint/2010/main" val="1550450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424B8C-FD0E-2E16-EC16-2FA2EF020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89" y="886112"/>
            <a:ext cx="4500283" cy="34361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8D1696-029A-7C1E-9A4F-C284F16BC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326" y="4392989"/>
            <a:ext cx="3162386" cy="14180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id="{7F58FF77-1BA8-6A15-B740-B7E75A7E4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69" y="4586233"/>
            <a:ext cx="794152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Panic attack–induced heart rate is consistently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above normal resting range (60–100 bpm)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, confirming physiological impact.</a:t>
            </a:r>
          </a:p>
          <a:p>
            <a:pPr marL="628650" lvl="1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Senior citizens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are most vulnerable to high heart rates, which could pose cardiac risks.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Social anxiety and PTSD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are the most intense triggers, showing the strongest heart rate elevation.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Medical history of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PTSD, anxiety, or depression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maintains higher-than-average heart rates, suggesting chronic vulnerability.</a:t>
            </a: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AFB7D1CA-A2D4-DF93-8721-415D4C3F6EC8}"/>
              </a:ext>
            </a:extLst>
          </p:cNvPr>
          <p:cNvSpPr txBox="1">
            <a:spLocks/>
          </p:cNvSpPr>
          <p:nvPr/>
        </p:nvSpPr>
        <p:spPr>
          <a:xfrm>
            <a:off x="3055094" y="105671"/>
            <a:ext cx="6243171" cy="51646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numCol="1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 cap="none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spc="50" dirty="0">
                <a:ln w="0">
                  <a:noFill/>
                </a:ln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Average Heart Rates</a:t>
            </a:r>
          </a:p>
        </p:txBody>
      </p:sp>
      <p:pic>
        <p:nvPicPr>
          <p:cNvPr id="24" name="Graphic 23" descr="Arrow: Straight with solid fill">
            <a:extLst>
              <a:ext uri="{FF2B5EF4-FFF2-40B4-BE49-F238E27FC236}">
                <a16:creationId xmlns:a16="http://schemas.microsoft.com/office/drawing/2014/main" id="{CD2F8CCB-4295-7187-D333-1EEFE8223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65451" y="1668066"/>
            <a:ext cx="576039" cy="343277"/>
          </a:xfrm>
          <a:prstGeom prst="rect">
            <a:avLst/>
          </a:prstGeom>
        </p:spPr>
      </p:pic>
      <p:pic>
        <p:nvPicPr>
          <p:cNvPr id="3" name="Graphic 2" descr="Arrow: Straight with solid fill">
            <a:extLst>
              <a:ext uri="{FF2B5EF4-FFF2-40B4-BE49-F238E27FC236}">
                <a16:creationId xmlns:a16="http://schemas.microsoft.com/office/drawing/2014/main" id="{D08267FF-8697-0869-59F1-8CBA95EBD0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65450" y="2618674"/>
            <a:ext cx="576039" cy="3432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941EE7-91CF-8481-B864-5FAAD52AD2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86112"/>
            <a:ext cx="5315712" cy="33928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0401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9FDF4F-0C2E-8375-9CD8-4FF649E6B830}"/>
              </a:ext>
            </a:extLst>
          </p:cNvPr>
          <p:cNvSpPr txBox="1">
            <a:spLocks/>
          </p:cNvSpPr>
          <p:nvPr/>
        </p:nvSpPr>
        <p:spPr>
          <a:xfrm>
            <a:off x="2974411" y="274261"/>
            <a:ext cx="6243171" cy="51646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numCol="1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 cap="none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spc="50" dirty="0">
                <a:ln w="0">
                  <a:noFill/>
                </a:ln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Symptoms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4FE1A5-49B5-F289-40D9-321C0E6A5227}"/>
              </a:ext>
            </a:extLst>
          </p:cNvPr>
          <p:cNvSpPr txBox="1"/>
          <p:nvPr/>
        </p:nvSpPr>
        <p:spPr>
          <a:xfrm>
            <a:off x="1130742" y="4383909"/>
            <a:ext cx="85875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/>
              <a:t>Sweating and shortness of breath are the most common symptoms of panic attacks.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 dirty="0"/>
              <a:t>Chest pain is the least reported.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b="1" dirty="0"/>
              <a:t>Middle-aged individuals </a:t>
            </a:r>
            <a:r>
              <a:rPr lang="en-US" sz="1200" b="1" dirty="0"/>
              <a:t>(both male and female) dominate the dataset for all symptoms.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b="1" dirty="0">
                <a:highlight>
                  <a:srgbClr val="FF0000"/>
                </a:highlight>
              </a:rPr>
              <a:t>Females</a:t>
            </a:r>
            <a:r>
              <a:rPr lang="en-US" sz="1200" b="1" dirty="0">
                <a:highlight>
                  <a:srgbClr val="FF0000"/>
                </a:highlight>
              </a:rPr>
              <a:t> report higher symptoms </a:t>
            </a:r>
            <a:r>
              <a:rPr lang="en-US" sz="1200" b="1" dirty="0"/>
              <a:t>overall than males, while non-binary individuals show significant prevalence despite lower sample size.</a:t>
            </a:r>
          </a:p>
        </p:txBody>
      </p:sp>
      <p:pic>
        <p:nvPicPr>
          <p:cNvPr id="15" name="Graphic 14" descr="Arrow: Straight with solid fill">
            <a:extLst>
              <a:ext uri="{FF2B5EF4-FFF2-40B4-BE49-F238E27FC236}">
                <a16:creationId xmlns:a16="http://schemas.microsoft.com/office/drawing/2014/main" id="{7B18D391-BB41-F42C-5FA8-0E65DC79A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18851" y="1607758"/>
            <a:ext cx="497453" cy="4974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955D9B-B657-A4E9-F445-DFF533CF2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742" y="1110637"/>
            <a:ext cx="9930510" cy="306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85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287EEB-B7DB-A60B-BD0C-FE7577A1A701}"/>
              </a:ext>
            </a:extLst>
          </p:cNvPr>
          <p:cNvSpPr txBox="1">
            <a:spLocks/>
          </p:cNvSpPr>
          <p:nvPr/>
        </p:nvSpPr>
        <p:spPr>
          <a:xfrm>
            <a:off x="2974414" y="379041"/>
            <a:ext cx="6243171" cy="51646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numCol="1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 cap="none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spc="50" dirty="0">
                <a:ln w="0">
                  <a:noFill/>
                </a:ln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Lifestyle Factors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37646C2-A2AA-5A02-7C47-50B957C63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672987"/>
              </p:ext>
            </p:extLst>
          </p:nvPr>
        </p:nvGraphicFramePr>
        <p:xfrm>
          <a:off x="1313515" y="1104061"/>
          <a:ext cx="9488955" cy="3194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712353" imgH="3606935" progId="Excel.Sheet.12">
                  <p:embed/>
                </p:oleObj>
              </mc:Choice>
              <mc:Fallback>
                <p:oleObj name="Worksheet" r:id="rId2" imgW="10712353" imgH="36069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13515" y="1104061"/>
                        <a:ext cx="9488955" cy="31948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26DB41-FF43-8C6E-2E72-25A8E0D5941E}"/>
              </a:ext>
            </a:extLst>
          </p:cNvPr>
          <p:cNvSpPr txBox="1"/>
          <p:nvPr/>
        </p:nvSpPr>
        <p:spPr>
          <a:xfrm>
            <a:off x="1313514" y="4575647"/>
            <a:ext cx="94889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latin typeface="Bahnschrift" panose="020B0502040204020203" pitchFamily="34" charset="0"/>
              </a:rPr>
              <a:t>Caffeine and alcohol use</a:t>
            </a:r>
            <a:r>
              <a:rPr lang="en-US" sz="1200" dirty="0">
                <a:latin typeface="Bahnschrift" panose="020B0502040204020203" pitchFamily="34" charset="0"/>
              </a:rPr>
              <a:t> are moderate but higher among </a:t>
            </a:r>
            <a:r>
              <a:rPr lang="en-US" sz="1200" dirty="0">
                <a:solidFill>
                  <a:srgbClr val="FFFF00"/>
                </a:solidFill>
                <a:latin typeface="Bahnschrift" panose="020B0502040204020203" pitchFamily="34" charset="0"/>
              </a:rPr>
              <a:t>middle-aged and youth adults</a:t>
            </a:r>
            <a:r>
              <a:rPr lang="en-US" sz="1200" dirty="0">
                <a:latin typeface="Bahnschrift" panose="020B0502040204020203" pitchFamily="34" charset="0"/>
              </a:rPr>
              <a:t>, potentially acting as panic triggers.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latin typeface="Bahnschrift" panose="020B0502040204020203" pitchFamily="34" charset="0"/>
              </a:rPr>
              <a:t>Sleep deprivation ( avg. 6 Hours )</a:t>
            </a:r>
            <a:r>
              <a:rPr lang="en-US" sz="1200" dirty="0">
                <a:latin typeface="Bahnschrift" panose="020B0502040204020203" pitchFamily="34" charset="0"/>
              </a:rPr>
              <a:t> is a common issue across all groups, likely worsening anxiety and panic risk.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latin typeface="Bahnschrift" panose="020B0502040204020203" pitchFamily="34" charset="0"/>
              </a:rPr>
              <a:t>Low exercise frequency</a:t>
            </a:r>
            <a:r>
              <a:rPr lang="en-US" sz="1200" dirty="0">
                <a:latin typeface="Bahnschrift" panose="020B0502040204020203" pitchFamily="34" charset="0"/>
              </a:rPr>
              <a:t> suggests poor stress management through physical activity.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latin typeface="Bahnschrift" panose="020B0502040204020203" pitchFamily="34" charset="0"/>
              </a:rPr>
              <a:t>Smoking is concentrated among </a:t>
            </a:r>
            <a:r>
              <a:rPr lang="en-US" sz="1200" b="1" dirty="0">
                <a:solidFill>
                  <a:srgbClr val="FFFF00"/>
                </a:solidFill>
                <a:latin typeface="Bahnschrift" panose="020B0502040204020203" pitchFamily="34" charset="0"/>
              </a:rPr>
              <a:t>middle-aged males </a:t>
            </a:r>
            <a:r>
              <a:rPr lang="en-US" sz="1200" b="1" dirty="0">
                <a:latin typeface="Bahnschrift" panose="020B0502040204020203" pitchFamily="34" charset="0"/>
              </a:rPr>
              <a:t>and</a:t>
            </a:r>
            <a:r>
              <a:rPr lang="en-US" sz="1200" b="1" dirty="0">
                <a:solidFill>
                  <a:srgbClr val="FFFF00"/>
                </a:solidFill>
                <a:latin typeface="Bahnschrift" panose="020B0502040204020203" pitchFamily="34" charset="0"/>
              </a:rPr>
              <a:t> females</a:t>
            </a:r>
            <a:r>
              <a:rPr lang="en-US" sz="1200" dirty="0">
                <a:latin typeface="Bahnschrift" panose="020B0502040204020203" pitchFamily="34" charset="0"/>
              </a:rPr>
              <a:t>, which may elevate cardiovascular risk during panic attacks.</a:t>
            </a:r>
          </a:p>
        </p:txBody>
      </p:sp>
    </p:spTree>
    <p:extLst>
      <p:ext uri="{BB962C8B-B14F-4D97-AF65-F5344CB8AC3E}">
        <p14:creationId xmlns:p14="http://schemas.microsoft.com/office/powerpoint/2010/main" val="2189101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2B36FB-A807-4453-EB05-FFF22EAFD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9" y="1069244"/>
            <a:ext cx="8128000" cy="2089150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D4A04FA4-8675-4EAF-32A2-AAC59B66B236}"/>
              </a:ext>
            </a:extLst>
          </p:cNvPr>
          <p:cNvSpPr txBox="1">
            <a:spLocks/>
          </p:cNvSpPr>
          <p:nvPr/>
        </p:nvSpPr>
        <p:spPr>
          <a:xfrm>
            <a:off x="2974413" y="375022"/>
            <a:ext cx="6243171" cy="51646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numCol="1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 cap="none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b="1" spc="50" dirty="0">
                <a:ln w="0">
                  <a:noFill/>
                </a:ln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 Black" panose="020B0A04020102020204" pitchFamily="34" charset="0"/>
              </a:rPr>
              <a:t>Relation To Triggers / Life Style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49CF4A8-AE9D-D5F2-7E03-374833025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515" y="3336149"/>
            <a:ext cx="857250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Caffeine Trigger 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Bahnschrift" panose="020B0502040204020203" pitchFamily="34" charset="0"/>
              </a:rPr>
              <a:t>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Even small intake can be a significant trigger.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PTSD Trigger :     </a:t>
            </a:r>
            <a:endParaRPr lang="en-US" altLang="en-US" sz="1400" dirty="0">
              <a:solidFill>
                <a:srgbClr val="FFFF00"/>
              </a:solidFill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     Strongly linked to higher smoking habits, moderate caffeine, and lower exercise.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Social Anxiety :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Bahnschrift" panose="020B0502040204020203" pitchFamily="34" charset="0"/>
              </a:rPr>
              <a:t>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Lifestyle seems healthier (low caffeine, low alcohol, low smoking), yet still causes panic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Bahnschrift" panose="020B0502040204020203" pitchFamily="34" charset="0"/>
              </a:rPr>
              <a:t>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attacks </a:t>
            </a:r>
            <a:r>
              <a:rPr lang="en-US" altLang="en-US" sz="1400" dirty="0">
                <a:latin typeface="Bahnschrift" panose="020B0502040204020203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→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suggests psychological  rather than lifestyle-driven trigger.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Stress &amp; Phobia :</a:t>
            </a:r>
            <a:endParaRPr lang="en-US" altLang="en-US" sz="1400" dirty="0">
              <a:solidFill>
                <a:srgbClr val="FFFF00"/>
              </a:solidFill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     Balanced lifestyle factors, but still trigger attacks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→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points to external/mental stressors more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Bahnschrift" panose="020B0502040204020203" pitchFamily="34" charset="0"/>
              </a:rPr>
              <a:t>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than habits.</a:t>
            </a:r>
          </a:p>
        </p:txBody>
      </p:sp>
    </p:spTree>
    <p:extLst>
      <p:ext uri="{BB962C8B-B14F-4D97-AF65-F5344CB8AC3E}">
        <p14:creationId xmlns:p14="http://schemas.microsoft.com/office/powerpoint/2010/main" val="1742490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6FA247D-9F34-F091-6BB2-C61B3073C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720766"/>
              </p:ext>
            </p:extLst>
          </p:nvPr>
        </p:nvGraphicFramePr>
        <p:xfrm>
          <a:off x="853440" y="2040243"/>
          <a:ext cx="4373198" cy="324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810576" imgH="4387985" progId="Excel.Sheet.12">
                  <p:embed/>
                </p:oleObj>
              </mc:Choice>
              <mc:Fallback>
                <p:oleObj name="Worksheet" r:id="rId2" imgW="7810576" imgH="43879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3440" y="2040243"/>
                        <a:ext cx="4373198" cy="3246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AD820F3-3078-22A8-D048-B9639980F11B}"/>
              </a:ext>
            </a:extLst>
          </p:cNvPr>
          <p:cNvSpPr txBox="1"/>
          <p:nvPr/>
        </p:nvSpPr>
        <p:spPr>
          <a:xfrm>
            <a:off x="5369947" y="2109031"/>
            <a:ext cx="50918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Female &amp; Middle-Aged </a:t>
            </a:r>
            <a:r>
              <a:rPr lang="en-IN" sz="1400" dirty="0">
                <a:latin typeface="Bahnschrift SemiBold" panose="020B0502040204020203" pitchFamily="34" charset="0"/>
              </a:rPr>
              <a:t>individuals have the highest therapy participation  ( 188  YES ) ,and a significant medication uptake. ( 152 YES 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1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dirty="0">
                <a:latin typeface="Bahnschrift SemiBold" panose="020B0502040204020203" pitchFamily="34" charset="0"/>
              </a:rPr>
              <a:t>Overall, </a:t>
            </a:r>
            <a:r>
              <a:rPr lang="en-IN" sz="14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therapy</a:t>
            </a:r>
            <a:r>
              <a:rPr lang="en-IN" sz="1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 </a:t>
            </a:r>
            <a:r>
              <a:rPr lang="en-IN" sz="1400" dirty="0">
                <a:latin typeface="Bahnschrift SemiBold" panose="020B0502040204020203" pitchFamily="34" charset="0"/>
              </a:rPr>
              <a:t>has sightly higher total engagement ( 605  YES ) than medication. ( 500 YES 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1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Teenagers &amp; Senior citizens </a:t>
            </a:r>
            <a:r>
              <a:rPr lang="en-IN" sz="1400" dirty="0">
                <a:latin typeface="Bahnschrift SemiBold" panose="020B0502040204020203" pitchFamily="34" charset="0"/>
              </a:rPr>
              <a:t>are consistently the least likely to engage in either therapy or medication , regardless of gender.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1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dirty="0">
                <a:latin typeface="Bahnschrift SemiBold" panose="020B0502040204020203" pitchFamily="34" charset="0"/>
              </a:rPr>
              <a:t>These trends suggest that </a:t>
            </a:r>
            <a:r>
              <a:rPr lang="en-IN" sz="1400" dirty="0">
                <a:solidFill>
                  <a:srgbClr val="FFFF00"/>
                </a:solidFill>
                <a:latin typeface="Bahnschrift SemiBold" panose="020B0502040204020203" pitchFamily="34" charset="0"/>
              </a:rPr>
              <a:t>middle –aged </a:t>
            </a:r>
            <a:r>
              <a:rPr lang="en-IN" sz="1400" dirty="0">
                <a:latin typeface="Bahnschrift SemiBold" panose="020B0502040204020203" pitchFamily="34" charset="0"/>
              </a:rPr>
              <a:t>individuals are the main demographic utilizing panic attack treatments ,while younger and older populations participate far less ,with therapy being marginally more popular than medication</a:t>
            </a:r>
            <a:r>
              <a:rPr lang="en-IN" sz="1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63E6109D-5701-9CB8-69AB-99DEBFC4AC59}"/>
              </a:ext>
            </a:extLst>
          </p:cNvPr>
          <p:cNvSpPr txBox="1">
            <a:spLocks/>
          </p:cNvSpPr>
          <p:nvPr/>
        </p:nvSpPr>
        <p:spPr>
          <a:xfrm>
            <a:off x="872406" y="1106424"/>
            <a:ext cx="8995082" cy="6755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numCol="1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 cap="none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SemiBold SemiConden" panose="020B0502040204020203" pitchFamily="34" charset="0"/>
              </a:rPr>
              <a:t>Treatment Choices across different genders and age groups</a:t>
            </a:r>
          </a:p>
          <a:p>
            <a:pPr algn="ctr"/>
            <a:endParaRPr lang="en-IN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843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824E5965-C7BF-73F5-D1D5-8259F20F73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829942"/>
              </p:ext>
            </p:extLst>
          </p:nvPr>
        </p:nvGraphicFramePr>
        <p:xfrm>
          <a:off x="4971003" y="2276220"/>
          <a:ext cx="2249992" cy="1971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441708" imgH="3016385" progId="Excel.Sheet.12">
                  <p:embed/>
                </p:oleObj>
              </mc:Choice>
              <mc:Fallback>
                <p:oleObj name="Worksheet" r:id="rId2" imgW="3441708" imgH="30163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71003" y="2276220"/>
                        <a:ext cx="2249992" cy="1971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" name="Picture 33">
            <a:extLst>
              <a:ext uri="{FF2B5EF4-FFF2-40B4-BE49-F238E27FC236}">
                <a16:creationId xmlns:a16="http://schemas.microsoft.com/office/drawing/2014/main" id="{85C929C1-7B01-AD08-7557-DEF4763B2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249" y="791626"/>
            <a:ext cx="1319499" cy="1187106"/>
          </a:xfrm>
          <a:prstGeom prst="rect">
            <a:avLst/>
          </a:prstGeom>
        </p:spPr>
      </p:pic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D56BA586-AB06-0596-672C-3E40AB0FB9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76855"/>
              </p:ext>
            </p:extLst>
          </p:nvPr>
        </p:nvGraphicFramePr>
        <p:xfrm>
          <a:off x="1220210" y="2276219"/>
          <a:ext cx="2249992" cy="1971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441708" imgH="3200400" progId="Excel.Sheet.12">
                  <p:embed/>
                </p:oleObj>
              </mc:Choice>
              <mc:Fallback>
                <p:oleObj name="Worksheet" r:id="rId5" imgW="3441708" imgH="3200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20210" y="2276219"/>
                        <a:ext cx="2249992" cy="1971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" name="Picture 37">
            <a:extLst>
              <a:ext uri="{FF2B5EF4-FFF2-40B4-BE49-F238E27FC236}">
                <a16:creationId xmlns:a16="http://schemas.microsoft.com/office/drawing/2014/main" id="{C621EC39-2979-8279-1BCD-D5656EF1E3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459" y="791626"/>
            <a:ext cx="1319499" cy="1187106"/>
          </a:xfrm>
          <a:prstGeom prst="rect">
            <a:avLst/>
          </a:prstGeom>
        </p:spPr>
      </p:pic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45E6324E-5F72-E296-A311-7C4B5B8DA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022206"/>
              </p:ext>
            </p:extLst>
          </p:nvPr>
        </p:nvGraphicFramePr>
        <p:xfrm>
          <a:off x="8721796" y="2253857"/>
          <a:ext cx="2249992" cy="1963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441708" imgH="3384415" progId="Excel.Sheet.12">
                  <p:embed/>
                </p:oleObj>
              </mc:Choice>
              <mc:Fallback>
                <p:oleObj name="Worksheet" r:id="rId8" imgW="3441708" imgH="33844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721796" y="2253857"/>
                        <a:ext cx="2249992" cy="1963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" name="Picture 41">
            <a:extLst>
              <a:ext uri="{FF2B5EF4-FFF2-40B4-BE49-F238E27FC236}">
                <a16:creationId xmlns:a16="http://schemas.microsoft.com/office/drawing/2014/main" id="{40F9F8BC-2B07-F406-CB46-6B8F40A1E0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7042" y="791626"/>
            <a:ext cx="1319499" cy="1187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D123A5-0B9F-6288-BB01-DD686F58DAC5}"/>
              </a:ext>
            </a:extLst>
          </p:cNvPr>
          <p:cNvSpPr txBox="1"/>
          <p:nvPr/>
        </p:nvSpPr>
        <p:spPr>
          <a:xfrm>
            <a:off x="4215384" y="163085"/>
            <a:ext cx="3602735" cy="400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20635493">
                  <a:custGeom>
                    <a:avLst/>
                    <a:gdLst>
                      <a:gd name="connsiteX0" fmla="*/ 0 w 3602735"/>
                      <a:gd name="connsiteY0" fmla="*/ 0 h 400110"/>
                      <a:gd name="connsiteX1" fmla="*/ 3602735 w 3602735"/>
                      <a:gd name="connsiteY1" fmla="*/ 0 h 400110"/>
                      <a:gd name="connsiteX2" fmla="*/ 3602735 w 3602735"/>
                      <a:gd name="connsiteY2" fmla="*/ 400110 h 400110"/>
                      <a:gd name="connsiteX3" fmla="*/ 0 w 3602735"/>
                      <a:gd name="connsiteY3" fmla="*/ 400110 h 400110"/>
                      <a:gd name="connsiteX4" fmla="*/ 0 w 3602735"/>
                      <a:gd name="connsiteY4" fmla="*/ 0 h 4001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02735" h="400110" fill="none" extrusionOk="0">
                        <a:moveTo>
                          <a:pt x="0" y="0"/>
                        </a:moveTo>
                        <a:cubicBezTo>
                          <a:pt x="825694" y="16390"/>
                          <a:pt x="2858786" y="-57751"/>
                          <a:pt x="3602735" y="0"/>
                        </a:cubicBezTo>
                        <a:cubicBezTo>
                          <a:pt x="3599146" y="53214"/>
                          <a:pt x="3621675" y="228868"/>
                          <a:pt x="3602735" y="400110"/>
                        </a:cubicBezTo>
                        <a:cubicBezTo>
                          <a:pt x="2068566" y="467726"/>
                          <a:pt x="488112" y="494513"/>
                          <a:pt x="0" y="400110"/>
                        </a:cubicBezTo>
                        <a:cubicBezTo>
                          <a:pt x="-13455" y="243683"/>
                          <a:pt x="25705" y="40684"/>
                          <a:pt x="0" y="0"/>
                        </a:cubicBezTo>
                        <a:close/>
                      </a:path>
                      <a:path w="3602735" h="400110" stroke="0" extrusionOk="0">
                        <a:moveTo>
                          <a:pt x="0" y="0"/>
                        </a:moveTo>
                        <a:cubicBezTo>
                          <a:pt x="457352" y="86413"/>
                          <a:pt x="2621155" y="-23568"/>
                          <a:pt x="3602735" y="0"/>
                        </a:cubicBezTo>
                        <a:cubicBezTo>
                          <a:pt x="3568243" y="152314"/>
                          <a:pt x="3585242" y="341045"/>
                          <a:pt x="3602735" y="400110"/>
                        </a:cubicBezTo>
                        <a:cubicBezTo>
                          <a:pt x="1954125" y="517006"/>
                          <a:pt x="617720" y="279648"/>
                          <a:pt x="0" y="400110"/>
                        </a:cubicBezTo>
                        <a:cubicBezTo>
                          <a:pt x="-13708" y="336607"/>
                          <a:pt x="23217" y="16420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Panic Score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2FEF8A-AB43-9475-B35E-17D96FD7B935}"/>
              </a:ext>
            </a:extLst>
          </p:cNvPr>
          <p:cNvSpPr txBox="1"/>
          <p:nvPr/>
        </p:nvSpPr>
        <p:spPr>
          <a:xfrm>
            <a:off x="1449812" y="4304829"/>
            <a:ext cx="10249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Bahnschrift Condensed" panose="020B0502040204020203" pitchFamily="34" charset="0"/>
              </a:rPr>
              <a:t>Higher panic scores seem concentrated among </a:t>
            </a:r>
            <a:r>
              <a:rPr lang="en-IN" sz="16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middle-aged &amp; female participants </a:t>
            </a:r>
            <a:r>
              <a:rPr lang="en-IN" sz="1600" dirty="0">
                <a:latin typeface="Bahnschrift Condensed" panose="020B0502040204020203" pitchFamily="34" charset="0"/>
              </a:rPr>
              <a:t>, as evident from the larger counts  in those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Non-binary</a:t>
            </a:r>
            <a:r>
              <a:rPr lang="en-IN" sz="1600" dirty="0">
                <a:latin typeface="Bahnschrift Condensed" panose="020B0502040204020203" pitchFamily="34" charset="0"/>
              </a:rPr>
              <a:t> and </a:t>
            </a:r>
            <a:r>
              <a:rPr lang="en-IN" sz="16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senior citizen </a:t>
            </a:r>
            <a:r>
              <a:rPr lang="en-IN" sz="1600" dirty="0">
                <a:latin typeface="Bahnschrift Condensed" panose="020B0502040204020203" pitchFamily="34" charset="0"/>
              </a:rPr>
              <a:t>groups have the lowest representation or count of panic score.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4A0E81-A7BD-682D-6E0B-575642842306}"/>
              </a:ext>
            </a:extLst>
          </p:cNvPr>
          <p:cNvSpPr txBox="1"/>
          <p:nvPr/>
        </p:nvSpPr>
        <p:spPr>
          <a:xfrm>
            <a:off x="7294129" y="5243845"/>
            <a:ext cx="3785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Males &amp; Females </a:t>
            </a:r>
            <a:r>
              <a:rPr lang="en-IN" sz="1200" dirty="0">
                <a:latin typeface="Bahnschrift Condensed" panose="020B0502040204020203" pitchFamily="34" charset="0"/>
              </a:rPr>
              <a:t>are the primary categories ,with Non-binary appearing only in the rightmost table with high panic score.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2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Female</a:t>
            </a:r>
            <a:r>
              <a:rPr lang="en-IN" sz="1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</a:t>
            </a:r>
            <a:r>
              <a:rPr lang="en-IN" sz="1200" dirty="0">
                <a:latin typeface="Bahnschrift Condensed" panose="020B0502040204020203" pitchFamily="34" charset="0"/>
              </a:rPr>
              <a:t>counts reach as high as </a:t>
            </a:r>
            <a:r>
              <a:rPr lang="en-IN" sz="12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168 </a:t>
            </a:r>
            <a:r>
              <a:rPr lang="en-IN" sz="1200" dirty="0">
                <a:latin typeface="Bahnschrift Condensed" panose="020B0502040204020203" pitchFamily="34" charset="0"/>
              </a:rPr>
              <a:t>in the rightmost table, indicating possibly higher representation.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D29EBB-1082-8522-01C3-7FAA6981EAA0}"/>
              </a:ext>
            </a:extLst>
          </p:cNvPr>
          <p:cNvSpPr txBox="1"/>
          <p:nvPr/>
        </p:nvSpPr>
        <p:spPr>
          <a:xfrm>
            <a:off x="1449812" y="5243845"/>
            <a:ext cx="548134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Middle-aged</a:t>
            </a:r>
            <a:r>
              <a:rPr lang="en-IN" sz="1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</a:t>
            </a:r>
            <a:r>
              <a:rPr lang="en-IN" sz="1200" dirty="0">
                <a:latin typeface="Bahnschrift Condensed" panose="020B0502040204020203" pitchFamily="34" charset="0"/>
              </a:rPr>
              <a:t>individuals have the highest counts across most demographic splits ,especially among females. ( e.g.. 106 in the rightmost table 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2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Youth adults and Teenagers </a:t>
            </a:r>
            <a:r>
              <a:rPr lang="en-IN" sz="1200" dirty="0">
                <a:latin typeface="Bahnschrift Condensed" panose="020B0502040204020203" pitchFamily="34" charset="0"/>
              </a:rPr>
              <a:t>are consistently represented ,but with lower total compared to the middle-aged group</a:t>
            </a:r>
            <a:r>
              <a:rPr lang="en-IN" sz="1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FFFF00"/>
                </a:solidFill>
                <a:latin typeface="Bahnschrift Condensed" panose="020B0502040204020203" pitchFamily="34" charset="0"/>
              </a:rPr>
              <a:t>Senior citizens </a:t>
            </a:r>
            <a:r>
              <a:rPr lang="en-IN" sz="1200" dirty="0">
                <a:latin typeface="Bahnschrift Condensed" panose="020B0502040204020203" pitchFamily="34" charset="0"/>
              </a:rPr>
              <a:t>appear with much lower counts rarely exceeding single digits.</a:t>
            </a:r>
          </a:p>
          <a:p>
            <a:endParaRPr lang="en-IN" sz="12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6" name="Graphic 15" descr="Back with solid fill">
            <a:extLst>
              <a:ext uri="{FF2B5EF4-FFF2-40B4-BE49-F238E27FC236}">
                <a16:creationId xmlns:a16="http://schemas.microsoft.com/office/drawing/2014/main" id="{1E4DA600-A97A-26DB-292C-EA4E6222B0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6209422">
            <a:off x="3090887" y="1683051"/>
            <a:ext cx="434932" cy="434932"/>
          </a:xfrm>
          <a:prstGeom prst="rect">
            <a:avLst/>
          </a:prstGeom>
        </p:spPr>
      </p:pic>
      <p:pic>
        <p:nvPicPr>
          <p:cNvPr id="17" name="Graphic 16" descr="Back with solid fill">
            <a:extLst>
              <a:ext uri="{FF2B5EF4-FFF2-40B4-BE49-F238E27FC236}">
                <a16:creationId xmlns:a16="http://schemas.microsoft.com/office/drawing/2014/main" id="{E535F4B4-44AD-AC62-9FCC-BB39243C23F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6209422">
            <a:off x="6814466" y="1739804"/>
            <a:ext cx="434932" cy="434932"/>
          </a:xfrm>
          <a:prstGeom prst="rect">
            <a:avLst/>
          </a:prstGeom>
        </p:spPr>
      </p:pic>
      <p:pic>
        <p:nvPicPr>
          <p:cNvPr id="18" name="Graphic 17" descr="Back with solid fill">
            <a:extLst>
              <a:ext uri="{FF2B5EF4-FFF2-40B4-BE49-F238E27FC236}">
                <a16:creationId xmlns:a16="http://schemas.microsoft.com/office/drawing/2014/main" id="{7206E1F5-C912-618A-8069-5783C9103B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6209422">
            <a:off x="10592292" y="1716000"/>
            <a:ext cx="434932" cy="43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57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D276652-08A3-B4BA-618D-CF3E40D90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751" y="1633153"/>
            <a:ext cx="10936223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Triggers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Caffeine and stress appear frequently as common panic attack triggers.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Individuals with PTSD, anxiety, or depression are at higher risk.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Symptoms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Sweating, dizziness, chest pain, and trembling are common physiological signs.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Heart rate is consistently elevated during panic attacks (often &gt;100 bpm).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Lifestyle Factors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High caffeine and alcohol consumption correlate with more frequent or intense panic attacks.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Lack of exercise and poor sleep are linked with higher panic scores.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Therapy &amp; Medication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Many individuals undergoing therapy report slightly lower panic scores compared to those without therapy.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Medication users often still experience attacks, suggesting partial but not complete relief.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Demographics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Panic attacks are prevalent across age groups, but middle-aged individuals dominate the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Gender distribution shows both males and females affected, with slightly higher representation in females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EC16BA-0C28-26F4-CA78-90FBA9F473C0}"/>
              </a:ext>
            </a:extLst>
          </p:cNvPr>
          <p:cNvSpPr txBox="1"/>
          <p:nvPr/>
        </p:nvSpPr>
        <p:spPr>
          <a:xfrm>
            <a:off x="1073433" y="902901"/>
            <a:ext cx="296570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20635493">
                  <a:custGeom>
                    <a:avLst/>
                    <a:gdLst>
                      <a:gd name="connsiteX0" fmla="*/ 0 w 2965704"/>
                      <a:gd name="connsiteY0" fmla="*/ 0 h 400110"/>
                      <a:gd name="connsiteX1" fmla="*/ 2965704 w 2965704"/>
                      <a:gd name="connsiteY1" fmla="*/ 0 h 400110"/>
                      <a:gd name="connsiteX2" fmla="*/ 2965704 w 2965704"/>
                      <a:gd name="connsiteY2" fmla="*/ 400110 h 400110"/>
                      <a:gd name="connsiteX3" fmla="*/ 0 w 2965704"/>
                      <a:gd name="connsiteY3" fmla="*/ 400110 h 400110"/>
                      <a:gd name="connsiteX4" fmla="*/ 0 w 2965704"/>
                      <a:gd name="connsiteY4" fmla="*/ 0 h 4001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65704" h="400110" fill="none" extrusionOk="0">
                        <a:moveTo>
                          <a:pt x="0" y="0"/>
                        </a:moveTo>
                        <a:cubicBezTo>
                          <a:pt x="600364" y="16390"/>
                          <a:pt x="2620849" y="-57751"/>
                          <a:pt x="2965704" y="0"/>
                        </a:cubicBezTo>
                        <a:cubicBezTo>
                          <a:pt x="2962115" y="53214"/>
                          <a:pt x="2984644" y="228868"/>
                          <a:pt x="2965704" y="400110"/>
                        </a:cubicBezTo>
                        <a:cubicBezTo>
                          <a:pt x="2484102" y="467726"/>
                          <a:pt x="335902" y="494513"/>
                          <a:pt x="0" y="400110"/>
                        </a:cubicBezTo>
                        <a:cubicBezTo>
                          <a:pt x="-13455" y="243683"/>
                          <a:pt x="25705" y="40684"/>
                          <a:pt x="0" y="0"/>
                        </a:cubicBezTo>
                        <a:close/>
                      </a:path>
                      <a:path w="2965704" h="400110" stroke="0" extrusionOk="0">
                        <a:moveTo>
                          <a:pt x="0" y="0"/>
                        </a:moveTo>
                        <a:cubicBezTo>
                          <a:pt x="743570" y="86413"/>
                          <a:pt x="2422962" y="-23568"/>
                          <a:pt x="2965704" y="0"/>
                        </a:cubicBezTo>
                        <a:cubicBezTo>
                          <a:pt x="2931212" y="152314"/>
                          <a:pt x="2948211" y="341045"/>
                          <a:pt x="2965704" y="400110"/>
                        </a:cubicBezTo>
                        <a:cubicBezTo>
                          <a:pt x="2634922" y="517006"/>
                          <a:pt x="819513" y="279648"/>
                          <a:pt x="0" y="400110"/>
                        </a:cubicBezTo>
                        <a:cubicBezTo>
                          <a:pt x="-13708" y="336607"/>
                          <a:pt x="23217" y="16420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84880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BCCEED66-635D-AB83-741E-72996C66A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090" y="1474708"/>
            <a:ext cx="9804878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Lifestyle Management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Reduce caffeine and alcohol intake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to lower frequency/intensity of attacks.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Increase exercise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(at least moderate activity 3–5 times a week) to improve resilience against triggers.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Maintain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consistent sleep (7–9 hours)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to regulate stress response.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Medical &amp; Psychological Interventions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Encourage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therapy (CBT, mindfulness, exposure therapy)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for patients with high panic scores.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Medication should be combined with lifestyle interventions, as drugs alone show limited effectiveness.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Trigger Awareness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Patients should track and avoid personal triggers (caffeine, stress, trauma reminders).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Stress management techniques (breathing exercises, meditation, journaling) can reduce frequency.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Health Monitoring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Regular monitoring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heart 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panic frequency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can help detect progress.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Screening for underlying conditions like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depression, PTSD, or anxiety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 is crucial.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ahnschrift" panose="020B0502040204020203" pitchFamily="34" charset="0"/>
              </a:rPr>
              <a:t>Awareness &amp; Support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Provide education to patients and families about panic attack symptoms to reduce stigma.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Support groups and peer counseling can improve coping strategies.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4E82A-2805-DA5C-5E5D-B21AE2F1E651}"/>
              </a:ext>
            </a:extLst>
          </p:cNvPr>
          <p:cNvSpPr txBox="1"/>
          <p:nvPr/>
        </p:nvSpPr>
        <p:spPr>
          <a:xfrm>
            <a:off x="1160570" y="797421"/>
            <a:ext cx="296570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20635493">
                  <a:custGeom>
                    <a:avLst/>
                    <a:gdLst>
                      <a:gd name="connsiteX0" fmla="*/ 0 w 2965704"/>
                      <a:gd name="connsiteY0" fmla="*/ 0 h 400110"/>
                      <a:gd name="connsiteX1" fmla="*/ 2965704 w 2965704"/>
                      <a:gd name="connsiteY1" fmla="*/ 0 h 400110"/>
                      <a:gd name="connsiteX2" fmla="*/ 2965704 w 2965704"/>
                      <a:gd name="connsiteY2" fmla="*/ 400110 h 400110"/>
                      <a:gd name="connsiteX3" fmla="*/ 0 w 2965704"/>
                      <a:gd name="connsiteY3" fmla="*/ 400110 h 400110"/>
                      <a:gd name="connsiteX4" fmla="*/ 0 w 2965704"/>
                      <a:gd name="connsiteY4" fmla="*/ 0 h 4001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65704" h="400110" fill="none" extrusionOk="0">
                        <a:moveTo>
                          <a:pt x="0" y="0"/>
                        </a:moveTo>
                        <a:cubicBezTo>
                          <a:pt x="600364" y="16390"/>
                          <a:pt x="2620849" y="-57751"/>
                          <a:pt x="2965704" y="0"/>
                        </a:cubicBezTo>
                        <a:cubicBezTo>
                          <a:pt x="2962115" y="53214"/>
                          <a:pt x="2984644" y="228868"/>
                          <a:pt x="2965704" y="400110"/>
                        </a:cubicBezTo>
                        <a:cubicBezTo>
                          <a:pt x="2484102" y="467726"/>
                          <a:pt x="335902" y="494513"/>
                          <a:pt x="0" y="400110"/>
                        </a:cubicBezTo>
                        <a:cubicBezTo>
                          <a:pt x="-13455" y="243683"/>
                          <a:pt x="25705" y="40684"/>
                          <a:pt x="0" y="0"/>
                        </a:cubicBezTo>
                        <a:close/>
                      </a:path>
                      <a:path w="2965704" h="400110" stroke="0" extrusionOk="0">
                        <a:moveTo>
                          <a:pt x="0" y="0"/>
                        </a:moveTo>
                        <a:cubicBezTo>
                          <a:pt x="743570" y="86413"/>
                          <a:pt x="2422962" y="-23568"/>
                          <a:pt x="2965704" y="0"/>
                        </a:cubicBezTo>
                        <a:cubicBezTo>
                          <a:pt x="2931212" y="152314"/>
                          <a:pt x="2948211" y="341045"/>
                          <a:pt x="2965704" y="400110"/>
                        </a:cubicBezTo>
                        <a:cubicBezTo>
                          <a:pt x="2634922" y="517006"/>
                          <a:pt x="819513" y="279648"/>
                          <a:pt x="0" y="400110"/>
                        </a:cubicBezTo>
                        <a:cubicBezTo>
                          <a:pt x="-13708" y="336607"/>
                          <a:pt x="23217" y="16420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898462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ertificate 1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E3F00"/>
      </a:accent1>
      <a:accent2>
        <a:srgbClr val="B293DD"/>
      </a:accent2>
      <a:accent3>
        <a:srgbClr val="E09EB0"/>
      </a:accent3>
      <a:accent4>
        <a:srgbClr val="5755FE"/>
      </a:accent4>
      <a:accent5>
        <a:srgbClr val="007F73"/>
      </a:accent5>
      <a:accent6>
        <a:srgbClr val="FDA303"/>
      </a:accent6>
      <a:hlink>
        <a:srgbClr val="0563C1"/>
      </a:hlink>
      <a:folHlink>
        <a:srgbClr val="954F72"/>
      </a:folHlink>
    </a:clrScheme>
    <a:fontScheme name="Custom 207">
      <a:majorFont>
        <a:latin typeface="Roboto Condensed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P_Certificate_19_win32_SD_v3" id="{2871067E-14B7-437B-B1FC-33E575EB9BDA}" vid="{445D1C5F-EB2C-4232-B133-3045F09B9BDC}"/>
    </a:ext>
  </a:extLst>
</a:theme>
</file>

<file path=ppt/theme/theme2.xml><?xml version="1.0" encoding="utf-8"?>
<a:theme xmlns:a="http://schemas.openxmlformats.org/drawingml/2006/main" name="light_modernist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ght modernist presentation_win32_SD_V8" id="{DD9F3DBC-97DB-4389-91E3-8FAD01D677DF}" vid="{B81B0F28-B8BA-42F4-B70F-6899486E5220}"/>
    </a:ext>
  </a:extLst>
</a:theme>
</file>

<file path=ppt/theme/theme3.xml><?xml version="1.0" encoding="utf-8"?>
<a:theme xmlns:a="http://schemas.openxmlformats.org/drawingml/2006/main" name="Slic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057A19-0BEC-4031-AAEE-9E5983CB017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Simple certificate of course completion</Template>
  <TotalTime>2414</TotalTime>
  <Words>1203</Words>
  <Application>Microsoft Office PowerPoint</Application>
  <PresentationFormat>Widescreen</PresentationFormat>
  <Paragraphs>124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34" baseType="lpstr">
      <vt:lpstr>Agency FB</vt:lpstr>
      <vt:lpstr>Arial</vt:lpstr>
      <vt:lpstr>Arial Black</vt:lpstr>
      <vt:lpstr>Arial Rounded MT Bold</vt:lpstr>
      <vt:lpstr>Avenir Next LT Pro Light</vt:lpstr>
      <vt:lpstr>Bahnschrift</vt:lpstr>
      <vt:lpstr>Bahnschrift Condensed</vt:lpstr>
      <vt:lpstr>Bahnschrift SemiBold</vt:lpstr>
      <vt:lpstr>Bahnschrift SemiBold SemiConden</vt:lpstr>
      <vt:lpstr>Calibri</vt:lpstr>
      <vt:lpstr>Cambria Math</vt:lpstr>
      <vt:lpstr>Century Gothic</vt:lpstr>
      <vt:lpstr>Lucida Sans Typewriter</vt:lpstr>
      <vt:lpstr>Rastanty Cortez</vt:lpstr>
      <vt:lpstr>Roboto Condensed</vt:lpstr>
      <vt:lpstr>Times New Roman</vt:lpstr>
      <vt:lpstr>Wingdings</vt:lpstr>
      <vt:lpstr>Wingdings 3</vt:lpstr>
      <vt:lpstr>Custom</vt:lpstr>
      <vt:lpstr>light_modernist</vt:lpstr>
      <vt:lpstr>Slice</vt:lpstr>
      <vt:lpstr>Worksheet</vt:lpstr>
      <vt:lpstr>Panic Attack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Bishnu</dc:creator>
  <cp:lastModifiedBy>Pavan Bishnu</cp:lastModifiedBy>
  <cp:revision>39</cp:revision>
  <dcterms:created xsi:type="dcterms:W3CDTF">2025-08-11T11:11:08Z</dcterms:created>
  <dcterms:modified xsi:type="dcterms:W3CDTF">2025-12-23T11:34:01Z</dcterms:modified>
</cp:coreProperties>
</file>